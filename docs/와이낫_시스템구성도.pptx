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10.svg" ContentType="image/svg+xml"/>
  <Override PartName="/ppt/media/image1248.svg" ContentType="image/svg+xml"/>
  <Override PartName="/ppt/media/image125.svg" ContentType="image/svg+xml"/>
  <Override PartName="/ppt/media/image133.svg" ContentType="image/svg+xml"/>
  <Override PartName="/ppt/media/image1330.svg" ContentType="image/svg+xml"/>
  <Override PartName="/ppt/media/image137.svg" ContentType="image/svg+xml"/>
  <Override PartName="/ppt/media/image14.svg" ContentType="image/svg+xml"/>
  <Override PartName="/ppt/media/image141.svg" ContentType="image/svg+xml"/>
  <Override PartName="/ppt/media/image1420.svg" ContentType="image/svg+xml"/>
  <Override PartName="/ppt/media/image1436.svg" ContentType="image/svg+xml"/>
  <Override PartName="/ppt/media/image1444.svg" ContentType="image/svg+xml"/>
  <Override PartName="/ppt/media/image1464.svg" ContentType="image/svg+xml"/>
  <Override PartName="/ppt/media/image155.svg" ContentType="image/svg+xml"/>
  <Override PartName="/ppt/media/image16.svg" ContentType="image/svg+xml"/>
  <Override PartName="/ppt/media/image160.svg" ContentType="image/svg+xml"/>
  <Override PartName="/ppt/media/image1622.svg" ContentType="image/svg+xml"/>
  <Override PartName="/ppt/media/image168.svg" ContentType="image/svg+xml"/>
  <Override PartName="/ppt/media/image20.svg" ContentType="image/svg+xml"/>
  <Override PartName="/ppt/media/image27.svg" ContentType="image/svg+xml"/>
  <Override PartName="/ppt/media/image427.svg" ContentType="image/svg+xml"/>
  <Override PartName="/ppt/media/image43.svg" ContentType="image/svg+xml"/>
  <Override PartName="/ppt/media/image45.svg" ContentType="image/svg+xml"/>
  <Override PartName="/ppt/media/image55.svg" ContentType="image/svg+xml"/>
  <Override PartName="/ppt/media/image552.svg" ContentType="image/svg+xml"/>
  <Override PartName="/ppt/media/image556.svg" ContentType="image/svg+xml"/>
  <Override PartName="/ppt/media/image560.svg" ContentType="image/svg+xml"/>
  <Override PartName="/ppt/media/image564.svg" ContentType="image/svg+xml"/>
  <Override PartName="/ppt/media/image566.svg" ContentType="image/svg+xml"/>
  <Override PartName="/ppt/media/image646.svg" ContentType="image/svg+xml"/>
  <Override PartName="/ppt/media/image8.svg" ContentType="image/svg+xml"/>
  <Override PartName="/ppt/media/image8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27" r:id="rId2"/>
  </p:sldMasterIdLst>
  <p:notesMasterIdLst>
    <p:notesMasterId r:id="rId157"/>
  </p:notesMasterIdLst>
  <p:sldIdLst>
    <p:sldId id="613" r:id="rId163"/>
    <p:sldId id="614" r:id="rId164"/>
    <p:sldId id="615" r:id="rId165"/>
    <p:sldId id="616" r:id="rId166"/>
    <p:sldId id="617" r:id="rId167"/>
    <p:sldId id="618" r:id="rId168"/>
    <p:sldId id="619" r:id="rId169"/>
    <p:sldId id="620" r:id="rId170"/>
    <p:sldId id="621" r:id="rId171"/>
    <p:sldId id="622" r:id="rId172"/>
    <p:sldId id="623" r:id="rId173"/>
    <p:sldId id="624" r:id="rId174"/>
    <p:sldId id="625" r:id="rId17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>
          <p15:clr>
            <a:srgbClr val="A4A3A4"/>
          </p15:clr>
        </p15:guide>
        <p15:guide id="2" pos="1872">
          <p15:clr>
            <a:srgbClr val="A4A3A4"/>
          </p15:clr>
        </p15:guide>
        <p15:guide id="3" pos="4176">
          <p15:clr>
            <a:srgbClr val="A4A3A4"/>
          </p15:clr>
        </p15:guide>
        <p15:guide id="4" pos="5496">
          <p15:clr>
            <a:srgbClr val="A4A3A4"/>
          </p15:clr>
        </p15:guide>
        <p15:guide id="5" orient="horz" pos="1224">
          <p15:clr>
            <a:srgbClr val="A4A3A4"/>
          </p15:clr>
        </p15:guide>
        <p15:guide id="6" orient="horz" pos="3624">
          <p15:clr>
            <a:srgbClr val="A4A3A4"/>
          </p15:clr>
        </p15:guide>
        <p15:guide id="7" orient="horz" pos="20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20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Papadakis Kantos, Yianna" initials="PKY" lastIdx="4" clrIdx="1">
    <p:extLst>
      <p:ext uri="{19B8F6BF-5375-455C-9EA6-DF929625EA0E}">
        <p15:presenceInfo xmlns:p15="http://schemas.microsoft.com/office/powerpoint/2012/main" userId="Papadakis Kantos, Yian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344C"/>
    <a:srgbClr val="232F3E"/>
    <a:srgbClr val="01A88D"/>
    <a:srgbClr val="7AA116"/>
    <a:srgbClr val="ED7100"/>
    <a:srgbClr val="E7157B"/>
    <a:srgbClr val="C925D1"/>
    <a:srgbClr val="8C4FFF"/>
    <a:srgbClr val="9BA7B6"/>
    <a:srgbClr val="8FA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96180" autoAdjust="0"/>
  </p:normalViewPr>
  <p:slideViewPr>
    <p:cSldViewPr snapToGrid="0" snapToObjects="1">
      <p:cViewPr varScale="1">
        <p:scale>
          <a:sx n="99" d="100"/>
          <a:sy n="99" d="100"/>
        </p:scale>
        <p:origin x="84" y="192"/>
      </p:cViewPr>
      <p:guideLst>
        <p:guide orient="horz" pos="744"/>
        <p:guide pos="1872"/>
        <p:guide pos="4176"/>
        <p:guide pos="5496"/>
        <p:guide orient="horz" pos="1224"/>
        <p:guide orient="horz" pos="3624"/>
        <p:guide orient="horz" pos="2040"/>
      </p:guideLst>
    </p:cSldViewPr>
  </p:slideViewPr>
  <p:outlineViewPr>
    <p:cViewPr>
      <p:scale>
        <a:sx n="33" d="100"/>
        <a:sy n="33" d="100"/>
      </p:scale>
      <p:origin x="0" y="-22248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57" Type="http://schemas.openxmlformats.org/officeDocument/2006/relationships/notesMaster" Target="notesMasters/notesMaster1.xml"/><Relationship Id="rId158" Type="http://schemas.openxmlformats.org/officeDocument/2006/relationships/commentAuthors" Target="commentAuthors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B57746-A217-1840-9D27-1C9B611FF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C0457-C9C0-9A46-856C-A75642660D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0E765C1-43CC-5C46-8694-A6B828DEC430}" type="datetimeFigureOut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DE939-5167-8149-9C39-EBF3DB40E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179A7E-0011-7C47-A00A-3553ADFC2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21AA-9F8D-2644-BA51-99C00524A9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1767E-EE09-594B-90B8-F1B2D1E5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48E93DF-EC4A-7C45-AB6A-FC63BC432F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6720" y="6289500"/>
            <a:ext cx="4403682" cy="365125"/>
          </a:xfrm>
        </p:spPr>
        <p:txBody>
          <a:bodyPr l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FCC986-4AA5-4E78-ACB8-93296CE0E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20" y="551423"/>
            <a:ext cx="1003173" cy="60018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8171177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40166"/>
            <a:ext cx="8171176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23353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7CCC43-D20D-3547-4C5C-B84BCD5F6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20" y="6335089"/>
            <a:ext cx="348827" cy="2087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50435"/>
            <a:ext cx="6733877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14095"/>
            <a:ext cx="6733876" cy="480131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85351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'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ABA-AA73-6F33-8CE3-7BA8AC0329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30FD-1024-73E5-DDAE-CABD5B7F85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AE35381-62E7-8B45-DF09-9D52F4A45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64D7CAF-E305-EFB7-1D4C-FC4028A01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5E9AF3-0F43-A8C7-9D9A-24B5C30D6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A81135-55B4-1CE3-4AAE-80204E5A9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23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2C22-9842-790F-7012-5D5CBEC71E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6CD2-EE78-2625-5844-0B9890040E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8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968E4-5FE5-20AF-7B20-87717025E7D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04F5B-AFFD-54FC-FAC0-F04384E179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0D87FF-D51B-E8F3-39CF-9AEBFC357D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60269A-F2FF-A7E2-AD9F-9F08204AC6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313B1EB-2063-E608-080C-CD55735352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2F4C55E-AD63-A918-ED20-BC3E307C2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460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DAC01-332B-D637-56B5-4AFC25E11D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19175-8EDF-5D9C-33EC-C8E2A1976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F389A0-9950-789A-55A2-79B1DF20A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300" y="1176338"/>
            <a:ext cx="3602038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A0F7C1-4F18-7077-33D5-3CBBB08D3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4188" y="1176338"/>
            <a:ext cx="3603625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F26E50D-1254-9591-B5D4-BEC8293AB0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6438" y="1176338"/>
            <a:ext cx="3602037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90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500AE-6766-41B0-C029-EAE84059B5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64CF-48E8-5FFF-28D2-E0495E1D7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10A7AB1-FFCC-A45F-8D25-303B6F2A2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149350"/>
            <a:ext cx="11709400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810F906-2DEE-3C9E-A8D5-9575D7745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300" y="2273300"/>
            <a:ext cx="5668963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64ED81-5108-F3B8-4DD7-6ECCF59D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738" y="2273300"/>
            <a:ext cx="5668962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793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437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22F17-7061-DBE6-40F0-4CE0A9CEF9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7B6E1-BAB1-B598-78E0-7F84FE236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54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514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76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061DB949-1463-2A4C-B301-63F1602C50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BC82-2752-FE77-7E7B-D40EB348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474-8FF5-26D4-FF3B-B8AA251B0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2913E6-E833-A35B-D52D-6FC43B3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E55DBD91-59FF-4653-822D-8AD6FCA2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DBF48-0EFD-7E4F-AAF0-AB1C4877B680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1388B4C-0BAF-3342-B4C4-F8F3835171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tx2"/>
                  </a:solidFill>
                </a:rPr>
                <a:t>General Services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89A14A-BBCF-BC41-8E4A-D55A4B8E1B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3BDA1A-1CBB-8E43-A453-55D625CBA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quid slide border color.">
            <a:extLst>
              <a:ext uri="{FF2B5EF4-FFF2-40B4-BE49-F238E27FC236}">
                <a16:creationId xmlns:a16="http://schemas.microsoft.com/office/drawing/2014/main" id="{9DE7E60F-0E8F-E845-A30E-6D51DFDCF24C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6C5E90-B6A0-C44C-5B33-1A7116573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ECED-EA93-EF92-CE3E-5CCF21835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94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8E5D3566-EC15-634D-A5DB-D8659E8B1D5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67BF2-F07F-5F3F-475C-95CD1798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02FF-B2B6-C57F-26B1-0DD331F6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31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Galaxy slide border color.">
            <a:extLst>
              <a:ext uri="{FF2B5EF4-FFF2-40B4-BE49-F238E27FC236}">
                <a16:creationId xmlns:a16="http://schemas.microsoft.com/office/drawing/2014/main" id="{0AEB10B3-8C08-7244-A574-BA85CB778D8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EDD2-E77A-C2D7-DFD4-A448A9D8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E0B2-F3AA-6FBC-AD07-99EDAC6C0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C323C8-2085-5822-7923-7CF461743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12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ground">
            <a:extLst>
              <a:ext uri="{FF2B5EF4-FFF2-40B4-BE49-F238E27FC236}">
                <a16:creationId xmlns:a16="http://schemas.microsoft.com/office/drawing/2014/main" id="{24165E9F-88A0-4663-BF3D-968B84D75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4C99-54C2-9541-8F43-762C964F130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servIcons">
              <a:extLst>
                <a:ext uri="{FF2B5EF4-FFF2-40B4-BE49-F238E27FC236}">
                  <a16:creationId xmlns:a16="http://schemas.microsoft.com/office/drawing/2014/main" id="{4A10370E-4F42-8241-BF9F-E9A72893ED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7" name="resourceIcons">
              <a:extLst>
                <a:ext uri="{FF2B5EF4-FFF2-40B4-BE49-F238E27FC236}">
                  <a16:creationId xmlns:a16="http://schemas.microsoft.com/office/drawing/2014/main" id="{E12F472C-8CA3-7949-8253-63E2F46D3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2AB3EF-8D29-0347-A0F4-5A920F8D6324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Galaxy slide border color.">
            <a:extLst>
              <a:ext uri="{FF2B5EF4-FFF2-40B4-BE49-F238E27FC236}">
                <a16:creationId xmlns:a16="http://schemas.microsoft.com/office/drawing/2014/main" id="{468A9567-E554-3010-2A38-DF450DDFF98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FA43EF-49E4-74BC-21F0-D41D27599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1FD56-C45F-424C-E9DB-ED23FAE2B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09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Galaxy slide border color.">
            <a:extLst>
              <a:ext uri="{FF2B5EF4-FFF2-40B4-BE49-F238E27FC236}">
                <a16:creationId xmlns:a16="http://schemas.microsoft.com/office/drawing/2014/main" id="{AFF7784A-AC38-A14C-8390-9F3D6CB22C2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EB7E-691A-4FE3-71DE-02772BF286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F89A6-18DC-5D54-AD1E-DB0457474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 descr="Violet border.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69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Cosmos slide border color.">
            <a:extLst>
              <a:ext uri="{FF2B5EF4-FFF2-40B4-BE49-F238E27FC236}">
                <a16:creationId xmlns:a16="http://schemas.microsoft.com/office/drawing/2014/main" id="{92051C7E-3900-3D47-BA06-C45A775AC5C5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BC9C4-5B16-0446-1707-A098531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DDB9-D31A-2698-9E06-EDBA4204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FB4B64-1C05-8022-8062-CE396DA9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39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640936-4DFF-42C0-83B1-59DF52458828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87056-54C9-3C44-8A0E-E8A0308AD2EC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69FAB93-C1F2-A245-90B4-C96C9D1826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F0D628E-4994-3E4C-AFDD-4A6F01ABA7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483B396-C225-9E4D-8732-D5FC98F01E48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Cosmos slide border color.">
            <a:extLst>
              <a:ext uri="{FF2B5EF4-FFF2-40B4-BE49-F238E27FC236}">
                <a16:creationId xmlns:a16="http://schemas.microsoft.com/office/drawing/2014/main" id="{95DB3A17-29D7-3A45-ACDB-C1245E16544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1C9672-9F35-D403-7E93-A3EAF1A26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CF192-8158-0693-458E-D0BD5278E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86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ndor slide border color.">
            <a:extLst>
              <a:ext uri="{FF2B5EF4-FFF2-40B4-BE49-F238E27FC236}">
                <a16:creationId xmlns:a16="http://schemas.microsoft.com/office/drawing/2014/main" id="{5573C5A5-FEA2-6F41-A1B4-E8FDB998D4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6095-762D-BE68-015D-91DF4C4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3E1-65D3-108F-B7F0-D0FA7F50C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4B0985-E6AB-7E04-B155-7041E507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597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FE73D7B2-348F-4CAE-9CCC-8E93AFD97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512C27-F57D-C04D-8C2E-2FBCFAEFE9E8}"/>
                </a:ext>
              </a:extLst>
            </p:cNvPr>
            <p:cNvSpPr/>
            <p:nvPr userDrawn="1"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0B215-B435-A046-AB52-3AC5CD6CB09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B3FCFCA-86E9-6843-BBC5-696B46773C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0F07F7-0ACA-744C-8676-DDDFF0EDD79A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9AB1F7AC-1D02-F24E-80FB-3513723974A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42A501-CFBB-7A93-52F3-AB8E94687A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BE29-5008-2D62-A19B-811CC5BED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72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DF3A4-48ED-4CD2-9513-7E2C8A63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tx2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EE8DD8F-3E33-DE49-A6C4-85510AAE5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4196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45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Resourc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ED0519-3CA3-4613-B9CF-C882D1FC70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CC60938-B1D7-7642-B1A2-9236489D4F1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IoT Resources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42122E-0449-9146-A319-D11DF60C4F51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C2C7E85-0D8D-A349-9C99-2B876764A29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92BB6-3B05-1293-CC06-6FDE34550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97408-F4F0-7E99-C730-19F388F4D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934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Thing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07052761-18F4-4F17-9791-EFBDB99E3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63DE121C-6773-A942-87BC-F4D427316A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IoT Things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F07151-3D39-D647-9EC4-468CD751516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758A11D-69A8-0C48-B5B1-2F07EB49825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D450F-B073-2724-EFAB-1458FF83F7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B9F3D-6443-1422-0F09-2FC88B705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965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mile slide border color.">
            <a:extLst>
              <a:ext uri="{FF2B5EF4-FFF2-40B4-BE49-F238E27FC236}">
                <a16:creationId xmlns:a16="http://schemas.microsoft.com/office/drawing/2014/main" id="{04734F41-1E91-BB44-8DB4-8C7590A467B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EA197-D7E8-786F-1AA3-1FACE65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D418F-7ECB-AD5F-D0C7-A97A1450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719DA-11C0-89F7-1183-23DEE88B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9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A5E7D35-EF2F-4930-9869-E75AEBD7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F773F9-4F99-D942-BEBB-1593505C68C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AF5CCA0-0690-374D-8772-DEF02BD7F54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C98EB3-F74A-FD47-AF5D-6FDD457384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DFC34-7FFC-F543-BA55-50C9C7C48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D97EA81C-3417-9A44-BB8E-31157C34FEB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EE44F-067B-DDFC-C61E-4E44544741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7C87C-AFEA-994A-5677-D6E0BF66D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48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_Instance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2450AE92-541C-4A10-B87D-AD0EB3F76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F41C06-25C4-FE46-A47C-4B60AE628A89}"/>
                </a:ext>
              </a:extLst>
            </p:cNvPr>
            <p:cNvSpPr/>
            <p:nvPr userDrawn="1"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98499298-BDCA-EC42-BE59-1F8672E525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61EB6ED-D795-1747-A446-1C4C0434D8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78119F-F6F8-D44F-8ABE-419D35451573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E489E1A-1BF1-F242-86E2-9807F29A1BE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049487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tx2"/>
                  </a:solidFill>
                </a:rPr>
                <a:t>Instances</a:t>
              </a:r>
            </a:p>
          </p:txBody>
        </p: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8B257808-C612-7942-9E1F-FF677A089C7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81C349-28A5-9EA2-5AD9-07AE81A15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6D495-0407-CD1E-7CF2-B5727772E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568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Mars slide border color.">
            <a:extLst>
              <a:ext uri="{FF2B5EF4-FFF2-40B4-BE49-F238E27FC236}">
                <a16:creationId xmlns:a16="http://schemas.microsoft.com/office/drawing/2014/main" id="{687C9EBA-6CEA-D94E-918D-9DD6990AE6A3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8E266-EB39-0A9E-C76A-053B4434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B292-2800-583D-9EDE-02771F816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344EBE-C5DD-42C9-0773-5EF0313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511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EB4FE19-FF32-41DE-A8E0-B4805BD9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E300FE-0BEC-454E-9226-4BF426763D4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C2F67B6-6C8E-C641-86AA-C2F4428DDF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BDD403-20C7-4B41-9D7D-4F367D174F2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1A8823-AC99-5D48-BD49-9E36441E381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Mars slide border color.">
            <a:extLst>
              <a:ext uri="{FF2B5EF4-FFF2-40B4-BE49-F238E27FC236}">
                <a16:creationId xmlns:a16="http://schemas.microsoft.com/office/drawing/2014/main" id="{BB803129-AEB7-3747-880F-67B9DA5EADC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3F37E-BEB7-9CA9-4E15-9F6907D9A5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F7325-7C1E-09BA-9DE1-BB358065C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181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urple slide border color. ">
            <a:extLst>
              <a:ext uri="{FF2B5EF4-FFF2-40B4-BE49-F238E27FC236}">
                <a16:creationId xmlns:a16="http://schemas.microsoft.com/office/drawing/2014/main" id="{C9CC7A7B-72BF-2148-B160-EA5B3241146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14BB-2C3F-E1E5-BDD0-C67B8300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8AE4-430E-D97E-BAB2-7E97E952C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8E3023-FCBD-DC65-9C52-8350A863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8247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CD41E53D-56D4-4C82-898B-01CE38AB7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0783BA-5DA2-994D-A7B2-8BDAECAFA190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9EAF9B0-BE56-6748-B94F-D6A648A817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E90A3CE-0CBA-E54C-B9E6-033E946919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71B9F-0CD6-C044-9881-BAE1BF200229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Purple slide border color. ">
            <a:extLst>
              <a:ext uri="{FF2B5EF4-FFF2-40B4-BE49-F238E27FC236}">
                <a16:creationId xmlns:a16="http://schemas.microsoft.com/office/drawing/2014/main" id="{CEA737E2-E92D-E84A-8C9E-5B00074EEFC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A55216-35F8-604A-0178-35EDF978E4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D7BF4-5C9B-4B50-0688-107EBA9E3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40" cy="5635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58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-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49E57066-5E26-4217-86BB-ED6E4B3CC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C40F516-D969-6E4E-BF93-CCA70344A6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FF49B2-D892-0D45-AB42-3AAD67C3E792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Purple slide border color. ">
            <a:extLst>
              <a:ext uri="{FF2B5EF4-FFF2-40B4-BE49-F238E27FC236}">
                <a16:creationId xmlns:a16="http://schemas.microsoft.com/office/drawing/2014/main" id="{90370AE6-5FDC-E344-AF35-B06C2A21DEA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6D92E-6025-F398-40DC-9469712D63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5FC3-AE52-19A7-6F8A-323718978F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044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Orbit slide border color.">
            <a:extLst>
              <a:ext uri="{FF2B5EF4-FFF2-40B4-BE49-F238E27FC236}">
                <a16:creationId xmlns:a16="http://schemas.microsoft.com/office/drawing/2014/main" id="{AFBE0FF0-DD9B-4D4C-8D49-958F9D7B538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5EC2-65B2-F233-2399-B91B20DC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B0F6-1D91-81B8-A937-F1A989006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B69D6-D4A2-83BE-46E9-1295904E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1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D6C1638-F7A9-4E9D-BF49-37BD4311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2F0230-E8CE-DC44-BE47-8907F62C997D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08B11CB-640D-E043-BAF5-A0C13F493A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3AE031-14EA-8D40-9418-E068CFCCEE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3153ED-10FE-2541-95D5-3FFD37931226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Orbit slide border color.">
            <a:extLst>
              <a:ext uri="{FF2B5EF4-FFF2-40B4-BE49-F238E27FC236}">
                <a16:creationId xmlns:a16="http://schemas.microsoft.com/office/drawing/2014/main" id="{2014E3DB-720E-E740-82E3-A1F043489F1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E05E46-9741-B3CF-1195-89E912118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46F3E-9AF6-1A67-72BD-4E356152E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4968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564E-12A4-425C-A283-B8B235FFF7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01751"/>
            <a:ext cx="6613109" cy="62356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Any slides that appear following this one are NOT approved for production use.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Please be sure to remove them before you publish this deck.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956A5A2-BB71-417D-9961-66F664368EAB}"/>
              </a:ext>
            </a:extLst>
          </p:cNvPr>
          <p:cNvSpPr/>
          <p:nvPr userDrawn="1"/>
        </p:nvSpPr>
        <p:spPr>
          <a:xfrm>
            <a:off x="7348648" y="978647"/>
            <a:ext cx="4360244" cy="4360244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STOP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8110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6720" y="6289500"/>
            <a:ext cx="4403682" cy="365125"/>
          </a:xfrm>
        </p:spPr>
        <p:txBody>
          <a:bodyPr l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FCC986-4AA5-4E78-ACB8-93296CE0E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20" y="551423"/>
            <a:ext cx="1003173" cy="60018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6733877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40166"/>
            <a:ext cx="6733876" cy="480131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02007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50435"/>
            <a:ext cx="6733877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14095"/>
            <a:ext cx="6733876" cy="480131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18122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'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ABA-AA73-6F33-8CE3-7BA8AC0329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30FD-1024-73E5-DDAE-CABD5B7F85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AE35381-62E7-8B45-DF09-9D52F4A45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64D7CAF-E305-EFB7-1D4C-FC4028A01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5E9AF3-0F43-A8C7-9D9A-24B5C30D6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A81135-55B4-1CE3-4AAE-80204E5A9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49755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2C22-9842-790F-7012-5D5CBEC71E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6CD2-EE78-2625-5844-0B9890040E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303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968E4-5FE5-20AF-7B20-87717025E7D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04F5B-AFFD-54FC-FAC0-F04384E179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0D87FF-D51B-E8F3-39CF-9AEBFC357D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60269A-F2FF-A7E2-AD9F-9F08204AC6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313B1EB-2063-E608-080C-CD55735352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2F4C55E-AD63-A918-ED20-BC3E307C2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7439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DAC01-332B-D637-56B5-4AFC25E11D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19175-8EDF-5D9C-33EC-C8E2A1976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F389A0-9950-789A-55A2-79B1DF20A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300" y="1176338"/>
            <a:ext cx="3602038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A0F7C1-4F18-7077-33D5-3CBBB08D3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4188" y="1176338"/>
            <a:ext cx="3603625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F26E50D-1254-9591-B5D4-BEC8293AB0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6438" y="1176338"/>
            <a:ext cx="3602037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31713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500AE-6766-41B0-C029-EAE84059B5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64CF-48E8-5FFF-28D2-E0495E1D7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10A7AB1-FFCC-A45F-8D25-303B6F2A2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149350"/>
            <a:ext cx="11709400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810F906-2DEE-3C9E-A8D5-9575D7745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300" y="2273300"/>
            <a:ext cx="5668963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64ED81-5108-F3B8-4DD7-6ECCF59D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738" y="2273300"/>
            <a:ext cx="5668962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0480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04931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22F17-7061-DBE6-40F0-4CE0A9CEF9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7B6E1-BAB1-B598-78E0-7F84FE236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933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68471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485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061DB949-1463-2A4C-B301-63F1602C50E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BC82-2752-FE77-7E7B-D40EB348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474-8FF5-26D4-FF3B-B8AA251B0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2913E6-E833-A35B-D52D-6FC43B3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940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553C159-15C5-4143-902A-A2D9C8AD8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DBF48-0EFD-7E4F-AAF0-AB1C4877B680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1388B4C-0BAF-3342-B4C4-F8F3835171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General Services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89A14A-BBCF-BC41-8E4A-D55A4B8E1B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3BDA1A-1CBB-8E43-A453-55D625CBA08B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quid slide border color.">
            <a:extLst>
              <a:ext uri="{FF2B5EF4-FFF2-40B4-BE49-F238E27FC236}">
                <a16:creationId xmlns:a16="http://schemas.microsoft.com/office/drawing/2014/main" id="{9DE7E60F-0E8F-E845-A30E-6D51DFDCF24C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6C5E90-B6A0-C44C-5B33-1A7116573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ECED-EA93-EF92-CE3E-5CCF21835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016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8E5D3566-EC15-634D-A5DB-D8659E8B1D5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67BF2-F07F-5F3F-475C-95CD1798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02FF-B2B6-C57F-26B1-0DD331F6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32934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Galaxy slide border color.">
            <a:extLst>
              <a:ext uri="{FF2B5EF4-FFF2-40B4-BE49-F238E27FC236}">
                <a16:creationId xmlns:a16="http://schemas.microsoft.com/office/drawing/2014/main" id="{0AEB10B3-8C08-7244-A574-BA85CB778D8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EDD2-E77A-C2D7-DFD4-A448A9D8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E0B2-F3AA-6FBC-AD07-99EDAC6C0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C323C8-2085-5822-7923-7CF461743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707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03AEA1F-5705-468C-87C7-8FB4BCBE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4C99-54C2-9541-8F43-762C964F130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A10370E-4F42-8241-BF9F-E9A72893ED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E12F472C-8CA3-7949-8253-63E2F46D3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2AB3EF-8D29-0347-A0F4-5A920F8D6324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Galaxy slide border color.">
            <a:extLst>
              <a:ext uri="{FF2B5EF4-FFF2-40B4-BE49-F238E27FC236}">
                <a16:creationId xmlns:a16="http://schemas.microsoft.com/office/drawing/2014/main" id="{468A9567-E554-3010-2A38-DF450DDFF98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FA43EF-49E4-74BC-21F0-D41D27599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1FD56-C45F-424C-E9DB-ED23FAE2B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68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Galaxy slide border color.">
            <a:extLst>
              <a:ext uri="{FF2B5EF4-FFF2-40B4-BE49-F238E27FC236}">
                <a16:creationId xmlns:a16="http://schemas.microsoft.com/office/drawing/2014/main" id="{AFF7784A-AC38-A14C-8390-9F3D6CB22C2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EB7E-691A-4FE3-71DE-02772BF286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F89A6-18DC-5D54-AD1E-DB0457474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234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Cosmos slide border color.">
            <a:extLst>
              <a:ext uri="{FF2B5EF4-FFF2-40B4-BE49-F238E27FC236}">
                <a16:creationId xmlns:a16="http://schemas.microsoft.com/office/drawing/2014/main" id="{92051C7E-3900-3D47-BA06-C45A775AC5C5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BC9C4-5B16-0446-1707-A098531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DDB9-D31A-2698-9E06-EDBA4204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FB4B64-1C05-8022-8062-CE396DA9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8027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21E229-13FE-4FC3-B7C6-AA992DC78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87056-54C9-3C44-8A0E-E8A0308AD2EC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69FAB93-C1F2-A245-90B4-C96C9D1826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F0D628E-4994-3E4C-AFDD-4A6F01ABA7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483B396-C225-9E4D-8732-D5FC98F01E48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Cosmos slide border color.">
            <a:extLst>
              <a:ext uri="{FF2B5EF4-FFF2-40B4-BE49-F238E27FC236}">
                <a16:creationId xmlns:a16="http://schemas.microsoft.com/office/drawing/2014/main" id="{95DB3A17-29D7-3A45-ACDB-C1245E16544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1C9672-9F35-D403-7E93-A3EAF1A26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CF192-8158-0693-458E-D0BD5278E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707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ndor slide border color.">
            <a:extLst>
              <a:ext uri="{FF2B5EF4-FFF2-40B4-BE49-F238E27FC236}">
                <a16:creationId xmlns:a16="http://schemas.microsoft.com/office/drawing/2014/main" id="{5573C5A5-FEA2-6F41-A1B4-E8FDB998D47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6095-762D-BE68-015D-91DF4C4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3E1-65D3-108F-B7F0-D0FA7F50C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4B0985-E6AB-7E04-B155-7041E507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81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05BA133-69B9-4FF2-BD08-1396789390FF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512C27-F57D-C04D-8C2E-2FBCFAEFE9E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0B215-B435-A046-AB52-3AC5CD6CB09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B3FCFCA-86E9-6843-BBC5-696B46773C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0F07F7-0ACA-744C-8676-DDDFF0EDD79A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9AB1F7AC-1D02-F24E-80FB-3513723974A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42A501-CFBB-7A93-52F3-AB8E94687A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BE29-5008-2D62-A19B-811CC5BED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292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2626ACD-3A5A-4C7B-BC05-7095F7FB342E}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bg1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EE8DD8F-3E33-DE49-A6C4-85510AAE5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4196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34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Resourc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FB081C-3EA8-4CC9-AEAA-5A88FBEBA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CC60938-B1D7-7642-B1A2-9236489D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IoT Resources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42122E-0449-9146-A319-D11DF60C4F51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C2C7E85-0D8D-A349-9C99-2B876764A29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92BB6-3B05-1293-CC06-6FDE34550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97408-F4F0-7E99-C730-19F388F4D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2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831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Thing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27F948-4C88-4606-B600-4B5701E6D42F}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63DE121C-6773-A942-87BC-F4D427316A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bg1"/>
                  </a:solidFill>
                </a:rPr>
                <a:t>IoT Things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F07151-3D39-D647-9EC4-468CD751516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758A11D-69A8-0C48-B5B1-2F07EB49825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D450F-B073-2724-EFAB-1458FF83F7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B9F3D-6443-1422-0F09-2FC88B705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31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mile slide border color.">
            <a:extLst>
              <a:ext uri="{FF2B5EF4-FFF2-40B4-BE49-F238E27FC236}">
                <a16:creationId xmlns:a16="http://schemas.microsoft.com/office/drawing/2014/main" id="{04734F41-1E91-BB44-8DB4-8C7590A467B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EA197-D7E8-786F-1AA3-1FACE65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D418F-7ECB-AD5F-D0C7-A97A1450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719DA-11C0-89F7-1183-23DEE88B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283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E19C435-6317-4052-AE8D-DCE5DD73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F773F9-4F99-D942-BEBB-1593505C68C1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AF5CCA0-0690-374D-8772-DEF02BD7F54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C98EB3-F74A-FD47-AF5D-6FDD457384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DFC34-7FFC-F543-BA55-50C9C7C48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D97EA81C-3417-9A44-BB8E-31157C34FEB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EE44F-067B-DDFC-C61E-4E44544741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7C87C-AFEA-994A-5677-D6E0BF66D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687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_Instance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B44E062-A77C-4F23-A531-4585F9B9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F41C06-25C4-FE46-A47C-4B60AE628A89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98499298-BDCA-EC42-BE59-1F8672E525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61EB6ED-D795-1747-A446-1C4C0434D8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78119F-F6F8-D44F-8ABE-419D35451573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E489E1A-1BF1-F242-86E2-9807F29A1BE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049487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>
                  <a:solidFill>
                    <a:schemeClr val="bg1"/>
                  </a:solidFill>
                </a:rPr>
                <a:t>Instances</a:t>
              </a:r>
            </a:p>
          </p:txBody>
        </p: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8B257808-C612-7942-9E1F-FF677A089C7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81C349-28A5-9EA2-5AD9-07AE81A15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6D495-0407-CD1E-7CF2-B5727772E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609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Mars slide border color.">
            <a:extLst>
              <a:ext uri="{FF2B5EF4-FFF2-40B4-BE49-F238E27FC236}">
                <a16:creationId xmlns:a16="http://schemas.microsoft.com/office/drawing/2014/main" id="{687C9EBA-6CEA-D94E-918D-9DD6990AE6A3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8E266-EB39-0A9E-C76A-053B4434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B292-2800-583D-9EDE-02771F816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344EBE-C5DD-42C9-0773-5EF0313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946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2024583-6DB5-4311-B159-16D1BD2F9D2B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E300FE-0BEC-454E-9226-4BF426763D4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C2F67B6-6C8E-C641-86AA-C2F4428DDF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BDD403-20C7-4B41-9D7D-4F367D174F2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1A8823-AC99-5D48-BD49-9E36441E381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Mars slide border color.">
            <a:extLst>
              <a:ext uri="{FF2B5EF4-FFF2-40B4-BE49-F238E27FC236}">
                <a16:creationId xmlns:a16="http://schemas.microsoft.com/office/drawing/2014/main" id="{BB803129-AEB7-3747-880F-67B9DA5EADC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3F37E-BEB7-9CA9-4E15-9F6907D9A5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F7325-7C1E-09BA-9DE1-BB358065C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337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urple slide border color.">
            <a:extLst>
              <a:ext uri="{FF2B5EF4-FFF2-40B4-BE49-F238E27FC236}">
                <a16:creationId xmlns:a16="http://schemas.microsoft.com/office/drawing/2014/main" id="{C9CC7A7B-72BF-2148-B160-EA5B3241146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14BB-2C3F-E1E5-BDD0-C67B8300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8AE4-430E-D97E-BAB2-7E97E952C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8E3023-FCBD-DC65-9C52-8350A863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362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001CFA1-EDE7-4161-871E-4CAC0B8D1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4" cy="4913313"/>
            <a:chOff x="0" y="1009650"/>
            <a:chExt cx="12191994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0783BA-5DA2-994D-A7B2-8BDAECAFA190}"/>
                </a:ext>
              </a:extLst>
            </p:cNvPr>
            <p:cNvSpPr/>
            <p:nvPr userDrawn="1"/>
          </p:nvSpPr>
          <p:spPr>
            <a:xfrm>
              <a:off x="0" y="1009650"/>
              <a:ext cx="12191994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9EAF9B0-BE56-6748-B94F-D6A648A817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E90A3CE-0CBA-E54C-B9E6-033E946919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71B9F-0CD6-C044-9881-BAE1BF200229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Purple slide border color.">
            <a:extLst>
              <a:ext uri="{FF2B5EF4-FFF2-40B4-BE49-F238E27FC236}">
                <a16:creationId xmlns:a16="http://schemas.microsoft.com/office/drawing/2014/main" id="{CEA737E2-E92D-E84A-8C9E-5B00074EEFC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A55216-35F8-604A-0178-35EDF978E4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D7BF4-5C9B-4B50-0688-107EBA9E3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351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-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8DD151-86F3-4CB6-A7B7-D9F2CCB1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C40F516-D969-6E4E-BF93-CCA70344A6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FF49B2-D892-0D45-AB42-3AAD67C3E792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Purple slide border color.">
            <a:extLst>
              <a:ext uri="{FF2B5EF4-FFF2-40B4-BE49-F238E27FC236}">
                <a16:creationId xmlns:a16="http://schemas.microsoft.com/office/drawing/2014/main" id="{90370AE6-5FDC-E344-AF35-B06C2A21DEA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6D92E-6025-F398-40DC-9469712D63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5FC3-AE52-19A7-6F8A-323718978F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7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969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Orbit slide border color.">
            <a:extLst>
              <a:ext uri="{FF2B5EF4-FFF2-40B4-BE49-F238E27FC236}">
                <a16:creationId xmlns:a16="http://schemas.microsoft.com/office/drawing/2014/main" id="{AFBE0FF0-DD9B-4D4C-8D49-958F9D7B538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5EC2-65B2-F233-2399-B91B20DC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B0F6-1D91-81B8-A937-F1A989006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B69D6-D4A2-83BE-46E9-1295904E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37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CDA8632-AEFC-4DBE-B8E9-555824BC9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 descr="Persian green slide border color.">
              <a:extLst>
                <a:ext uri="{FF2B5EF4-FFF2-40B4-BE49-F238E27FC236}">
                  <a16:creationId xmlns:a16="http://schemas.microsoft.com/office/drawing/2014/main" id="{0E2F0230-E8CE-DC44-BE47-8907F62C997D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08B11CB-640D-E043-BAF5-A0C13F493A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3AE031-14EA-8D40-9418-E068CFCCEE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3153ED-10FE-2541-95D5-3FFD37931226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Orbit slide border color.">
            <a:extLst>
              <a:ext uri="{FF2B5EF4-FFF2-40B4-BE49-F238E27FC236}">
                <a16:creationId xmlns:a16="http://schemas.microsoft.com/office/drawing/2014/main" id="{2014E3DB-720E-E740-82E3-A1F043489F1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E05E46-9741-B3CF-1195-89E912118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46F3E-9AF6-1A67-72BD-4E356152E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340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564E-12A4-425C-A283-B8B235FFF7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01751"/>
            <a:ext cx="6613109" cy="62356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Any slides that appear following this one are NOT approved for production use.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Please be sure to remove them before you publish this deck.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956A5A2-BB71-417D-9961-66F664368EAB}"/>
              </a:ext>
            </a:extLst>
          </p:cNvPr>
          <p:cNvSpPr/>
          <p:nvPr userDrawn="1"/>
        </p:nvSpPr>
        <p:spPr>
          <a:xfrm>
            <a:off x="7348648" y="978647"/>
            <a:ext cx="4360244" cy="4360244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STOP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0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3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0.xml"/><Relationship Id="rId36" Type="http://schemas.openxmlformats.org/officeDocument/2006/relationships/theme" Target="../theme/theme2.xml"/><Relationship Id="rId3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4" r:id="rId2"/>
    <p:sldLayoutId id="2147483816" r:id="rId3"/>
    <p:sldLayoutId id="2147483822" r:id="rId4"/>
    <p:sldLayoutId id="2147483819" r:id="rId5"/>
    <p:sldLayoutId id="2147483823" r:id="rId6"/>
    <p:sldLayoutId id="2147483821" r:id="rId7"/>
    <p:sldLayoutId id="2147483817" r:id="rId8"/>
    <p:sldLayoutId id="2147483818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814" r:id="rId17"/>
    <p:sldLayoutId id="2147483792" r:id="rId18"/>
    <p:sldLayoutId id="2147483793" r:id="rId19"/>
    <p:sldLayoutId id="2147483794" r:id="rId20"/>
    <p:sldLayoutId id="2147483796" r:id="rId21"/>
    <p:sldLayoutId id="2147483795" r:id="rId22"/>
    <p:sldLayoutId id="2147483797" r:id="rId23"/>
    <p:sldLayoutId id="2147483798" r:id="rId24"/>
    <p:sldLayoutId id="2147483799" r:id="rId25"/>
    <p:sldLayoutId id="2147483800" r:id="rId26"/>
    <p:sldLayoutId id="2147483813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09" r:id="rId34"/>
    <p:sldLayoutId id="2147483863" r:id="rId35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CB2219-6841-1D92-4D69-CA13E4688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20" y="6335089"/>
            <a:ext cx="348827" cy="2087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2024,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904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50" r:id="rId23"/>
    <p:sldLayoutId id="2147483851" r:id="rId24"/>
    <p:sldLayoutId id="2147483852" r:id="rId25"/>
    <p:sldLayoutId id="2147483853" r:id="rId26"/>
    <p:sldLayoutId id="2147483854" r:id="rId27"/>
    <p:sldLayoutId id="2147483855" r:id="rId28"/>
    <p:sldLayoutId id="2147483856" r:id="rId29"/>
    <p:sldLayoutId id="2147483857" r:id="rId30"/>
    <p:sldLayoutId id="2147483858" r:id="rId31"/>
    <p:sldLayoutId id="2147483859" r:id="rId32"/>
    <p:sldLayoutId id="2147483860" r:id="rId33"/>
    <p:sldLayoutId id="2147483861" r:id="rId34"/>
    <p:sldLayoutId id="2147483862" r:id="rId35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47.png"/><Relationship Id="rId3" Type="http://schemas.openxmlformats.org/officeDocument/2006/relationships/image" Target="../media/image1248.svg"/><Relationship Id="rId4" Type="http://schemas.openxmlformats.org/officeDocument/2006/relationships/image" Target="../media/image1329.png"/><Relationship Id="rId5" Type="http://schemas.openxmlformats.org/officeDocument/2006/relationships/image" Target="../media/image1330.svg"/><Relationship Id="rId6" Type="http://schemas.openxmlformats.org/officeDocument/2006/relationships/image" Target="../media/image551.png"/><Relationship Id="rId7" Type="http://schemas.openxmlformats.org/officeDocument/2006/relationships/image" Target="../media/image552.svg"/><Relationship Id="rId8" Type="http://schemas.openxmlformats.org/officeDocument/2006/relationships/image" Target="../media/image426.png"/><Relationship Id="rId9" Type="http://schemas.openxmlformats.org/officeDocument/2006/relationships/image" Target="../media/image427.svg"/><Relationship Id="rId10" Type="http://schemas.openxmlformats.org/officeDocument/2006/relationships/image" Target="../media/image1621.png"/><Relationship Id="rId11" Type="http://schemas.openxmlformats.org/officeDocument/2006/relationships/image" Target="../media/image1622.sv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81.png"/><Relationship Id="rId5" Type="http://schemas.openxmlformats.org/officeDocument/2006/relationships/image" Target="../media/image82.svg"/><Relationship Id="rId6" Type="http://schemas.openxmlformats.org/officeDocument/2006/relationships/image" Target="../media/image1621.png"/><Relationship Id="rId7" Type="http://schemas.openxmlformats.org/officeDocument/2006/relationships/image" Target="../media/image1622.svg"/><Relationship Id="rId8" Type="http://schemas.openxmlformats.org/officeDocument/2006/relationships/image" Target="../media/image426.png"/><Relationship Id="rId9" Type="http://schemas.openxmlformats.org/officeDocument/2006/relationships/image" Target="../media/image427.svg"/><Relationship Id="rId10" Type="http://schemas.openxmlformats.org/officeDocument/2006/relationships/image" Target="../media/image140.png"/><Relationship Id="rId11" Type="http://schemas.openxmlformats.org/officeDocument/2006/relationships/image" Target="../media/image141.svg"/><Relationship Id="rId12" Type="http://schemas.openxmlformats.org/officeDocument/2006/relationships/image" Target="../media/image559.png"/><Relationship Id="rId13" Type="http://schemas.openxmlformats.org/officeDocument/2006/relationships/image" Target="../media/image560.svg"/><Relationship Id="rId14" Type="http://schemas.openxmlformats.org/officeDocument/2006/relationships/image" Target="../media/image154.png"/><Relationship Id="rId15" Type="http://schemas.openxmlformats.org/officeDocument/2006/relationships/image" Target="../media/image155.svg"/><Relationship Id="rId16" Type="http://schemas.openxmlformats.org/officeDocument/2006/relationships/image" Target="../media/image132.png"/><Relationship Id="rId17" Type="http://schemas.openxmlformats.org/officeDocument/2006/relationships/image" Target="../media/image133.svg"/><Relationship Id="rId18" Type="http://schemas.openxmlformats.org/officeDocument/2006/relationships/image" Target="../media/image167.png"/><Relationship Id="rId19" Type="http://schemas.openxmlformats.org/officeDocument/2006/relationships/image" Target="../media/image168.sv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26.png"/><Relationship Id="rId3" Type="http://schemas.openxmlformats.org/officeDocument/2006/relationships/image" Target="../media/image427.svg"/><Relationship Id="rId4" Type="http://schemas.openxmlformats.org/officeDocument/2006/relationships/image" Target="../media/image559.png"/><Relationship Id="rId5" Type="http://schemas.openxmlformats.org/officeDocument/2006/relationships/image" Target="../media/image560.svg"/><Relationship Id="rId6" Type="http://schemas.openxmlformats.org/officeDocument/2006/relationships/image" Target="../media/image132.png"/><Relationship Id="rId7" Type="http://schemas.openxmlformats.org/officeDocument/2006/relationships/image" Target="../media/image133.svg"/><Relationship Id="rId8" Type="http://schemas.openxmlformats.org/officeDocument/2006/relationships/image" Target="../media/image167.png"/><Relationship Id="rId9" Type="http://schemas.openxmlformats.org/officeDocument/2006/relationships/image" Target="../media/image168.sv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1.png"/><Relationship Id="rId3" Type="http://schemas.openxmlformats.org/officeDocument/2006/relationships/image" Target="../media/image82.svg"/><Relationship Id="rId4" Type="http://schemas.openxmlformats.org/officeDocument/2006/relationships/image" Target="../media/image1247.png"/><Relationship Id="rId5" Type="http://schemas.openxmlformats.org/officeDocument/2006/relationships/image" Target="../media/image1248.svg"/><Relationship Id="rId6" Type="http://schemas.openxmlformats.org/officeDocument/2006/relationships/image" Target="../media/image1329.png"/><Relationship Id="rId7" Type="http://schemas.openxmlformats.org/officeDocument/2006/relationships/image" Target="../media/image1330.svg"/><Relationship Id="rId8" Type="http://schemas.openxmlformats.org/officeDocument/2006/relationships/image" Target="../media/image563.png"/><Relationship Id="rId9" Type="http://schemas.openxmlformats.org/officeDocument/2006/relationships/image" Target="../media/image564.svg"/><Relationship Id="rId10" Type="http://schemas.openxmlformats.org/officeDocument/2006/relationships/image" Target="../media/image565.png"/><Relationship Id="rId11" Type="http://schemas.openxmlformats.org/officeDocument/2006/relationships/image" Target="../media/image566.svg"/><Relationship Id="rId12" Type="http://schemas.openxmlformats.org/officeDocument/2006/relationships/image" Target="../media/image426.png"/><Relationship Id="rId13" Type="http://schemas.openxmlformats.org/officeDocument/2006/relationships/image" Target="../media/image427.svg"/><Relationship Id="rId14" Type="http://schemas.openxmlformats.org/officeDocument/2006/relationships/image" Target="../media/image154.png"/><Relationship Id="rId15" Type="http://schemas.openxmlformats.org/officeDocument/2006/relationships/image" Target="../media/image155.svg"/><Relationship Id="rId16" Type="http://schemas.openxmlformats.org/officeDocument/2006/relationships/image" Target="../media/image645.png"/><Relationship Id="rId17" Type="http://schemas.openxmlformats.org/officeDocument/2006/relationships/image" Target="../media/image646.svg"/><Relationship Id="rId18" Type="http://schemas.openxmlformats.org/officeDocument/2006/relationships/image" Target="../media/image1621.png"/><Relationship Id="rId19" Type="http://schemas.openxmlformats.org/officeDocument/2006/relationships/image" Target="../media/image1622.sv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247.png"/><Relationship Id="rId7" Type="http://schemas.openxmlformats.org/officeDocument/2006/relationships/image" Target="../media/image1248.svg"/><Relationship Id="rId8" Type="http://schemas.openxmlformats.org/officeDocument/2006/relationships/image" Target="../media/image1419.png"/><Relationship Id="rId9" Type="http://schemas.openxmlformats.org/officeDocument/2006/relationships/image" Target="../media/image1420.svg"/><Relationship Id="rId10" Type="http://schemas.openxmlformats.org/officeDocument/2006/relationships/image" Target="../media/image1435.png"/><Relationship Id="rId11" Type="http://schemas.openxmlformats.org/officeDocument/2006/relationships/image" Target="../media/image1436.svg"/><Relationship Id="rId12" Type="http://schemas.openxmlformats.org/officeDocument/2006/relationships/image" Target="../media/image1463.png"/><Relationship Id="rId13" Type="http://schemas.openxmlformats.org/officeDocument/2006/relationships/image" Target="../media/image1464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26.png"/><Relationship Id="rId19" Type="http://schemas.openxmlformats.org/officeDocument/2006/relationships/image" Target="../media/image27.svg"/><Relationship Id="rId20" Type="http://schemas.openxmlformats.org/officeDocument/2006/relationships/image" Target="../media/image44.png"/><Relationship Id="rId21" Type="http://schemas.openxmlformats.org/officeDocument/2006/relationships/image" Target="../media/image45.svg"/><Relationship Id="rId22" Type="http://schemas.openxmlformats.org/officeDocument/2006/relationships/image" Target="../media/image19.png"/><Relationship Id="rId23" Type="http://schemas.openxmlformats.org/officeDocument/2006/relationships/image" Target="../media/image20.svg"/><Relationship Id="rId24" Type="http://schemas.openxmlformats.org/officeDocument/2006/relationships/image" Target="../media/image1329.png"/><Relationship Id="rId25" Type="http://schemas.openxmlformats.org/officeDocument/2006/relationships/image" Target="../media/image1330.svg"/><Relationship Id="rId26" Type="http://schemas.openxmlformats.org/officeDocument/2006/relationships/image" Target="../media/image551.png"/><Relationship Id="rId27" Type="http://schemas.openxmlformats.org/officeDocument/2006/relationships/image" Target="../media/image552.svg"/><Relationship Id="rId28" Type="http://schemas.openxmlformats.org/officeDocument/2006/relationships/image" Target="../media/image563.png"/><Relationship Id="rId29" Type="http://schemas.openxmlformats.org/officeDocument/2006/relationships/image" Target="../media/image564.svg"/><Relationship Id="rId30" Type="http://schemas.openxmlformats.org/officeDocument/2006/relationships/image" Target="../media/image565.png"/><Relationship Id="rId31" Type="http://schemas.openxmlformats.org/officeDocument/2006/relationships/image" Target="../media/image566.svg"/><Relationship Id="rId32" Type="http://schemas.openxmlformats.org/officeDocument/2006/relationships/image" Target="../media/image645.png"/><Relationship Id="rId33" Type="http://schemas.openxmlformats.org/officeDocument/2006/relationships/image" Target="../media/image646.svg"/><Relationship Id="rId34" Type="http://schemas.openxmlformats.org/officeDocument/2006/relationships/image" Target="../media/image1621.png"/><Relationship Id="rId35" Type="http://schemas.openxmlformats.org/officeDocument/2006/relationships/image" Target="../media/image1622.svg"/><Relationship Id="rId36" Type="http://schemas.openxmlformats.org/officeDocument/2006/relationships/image" Target="../media/image426.png"/><Relationship Id="rId37" Type="http://schemas.openxmlformats.org/officeDocument/2006/relationships/image" Target="../media/image427.svg"/><Relationship Id="rId38" Type="http://schemas.openxmlformats.org/officeDocument/2006/relationships/image" Target="../media/image132.png"/><Relationship Id="rId39" Type="http://schemas.openxmlformats.org/officeDocument/2006/relationships/image" Target="../media/image133.svg"/><Relationship Id="rId40" Type="http://schemas.openxmlformats.org/officeDocument/2006/relationships/image" Target="../media/image559.png"/><Relationship Id="rId41" Type="http://schemas.openxmlformats.org/officeDocument/2006/relationships/image" Target="../media/image560.svg"/><Relationship Id="rId42" Type="http://schemas.openxmlformats.org/officeDocument/2006/relationships/image" Target="../media/image54.png"/><Relationship Id="rId43" Type="http://schemas.openxmlformats.org/officeDocument/2006/relationships/image" Target="../media/image55.svg"/><Relationship Id="rId44" Type="http://schemas.openxmlformats.org/officeDocument/2006/relationships/image" Target="../media/image1443.png"/><Relationship Id="rId45" Type="http://schemas.openxmlformats.org/officeDocument/2006/relationships/image" Target="../media/image1444.sv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6.png"/><Relationship Id="rId3" Type="http://schemas.openxmlformats.org/officeDocument/2006/relationships/image" Target="../media/image137.svg"/><Relationship Id="rId4" Type="http://schemas.openxmlformats.org/officeDocument/2006/relationships/image" Target="../media/image159.png"/><Relationship Id="rId5" Type="http://schemas.openxmlformats.org/officeDocument/2006/relationships/image" Target="../media/image160.svg"/><Relationship Id="rId6" Type="http://schemas.openxmlformats.org/officeDocument/2006/relationships/image" Target="../media/image167.png"/><Relationship Id="rId7" Type="http://schemas.openxmlformats.org/officeDocument/2006/relationships/image" Target="../media/image168.svg"/><Relationship Id="rId8" Type="http://schemas.openxmlformats.org/officeDocument/2006/relationships/image" Target="../media/image555.png"/><Relationship Id="rId9" Type="http://schemas.openxmlformats.org/officeDocument/2006/relationships/image" Target="../media/image556.svg"/><Relationship Id="rId10" Type="http://schemas.openxmlformats.org/officeDocument/2006/relationships/image" Target="../media/image124.png"/><Relationship Id="rId11" Type="http://schemas.openxmlformats.org/officeDocument/2006/relationships/image" Target="../media/image125.svg"/><Relationship Id="rId12" Type="http://schemas.openxmlformats.org/officeDocument/2006/relationships/image" Target="../media/image551.png"/><Relationship Id="rId13" Type="http://schemas.openxmlformats.org/officeDocument/2006/relationships/image" Target="../media/image552.svg"/><Relationship Id="rId14" Type="http://schemas.openxmlformats.org/officeDocument/2006/relationships/image" Target="../media/image9.png"/><Relationship Id="rId15" Type="http://schemas.openxmlformats.org/officeDocument/2006/relationships/image" Target="../media/image10.sv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45.png"/><Relationship Id="rId3" Type="http://schemas.openxmlformats.org/officeDocument/2006/relationships/image" Target="../media/image646.svg"/><Relationship Id="rId4" Type="http://schemas.openxmlformats.org/officeDocument/2006/relationships/image" Target="../media/image1621.png"/><Relationship Id="rId5" Type="http://schemas.openxmlformats.org/officeDocument/2006/relationships/image" Target="../media/image1622.svg"/><Relationship Id="rId6" Type="http://schemas.openxmlformats.org/officeDocument/2006/relationships/image" Target="../media/image1463.png"/><Relationship Id="rId7" Type="http://schemas.openxmlformats.org/officeDocument/2006/relationships/image" Target="../media/image1464.sv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26.png"/><Relationship Id="rId3" Type="http://schemas.openxmlformats.org/officeDocument/2006/relationships/image" Target="../media/image427.svg"/><Relationship Id="rId4" Type="http://schemas.openxmlformats.org/officeDocument/2006/relationships/image" Target="../media/image559.png"/><Relationship Id="rId5" Type="http://schemas.openxmlformats.org/officeDocument/2006/relationships/image" Target="../media/image560.svg"/><Relationship Id="rId6" Type="http://schemas.openxmlformats.org/officeDocument/2006/relationships/image" Target="../media/image132.png"/><Relationship Id="rId7" Type="http://schemas.openxmlformats.org/officeDocument/2006/relationships/image" Target="../media/image133.svg"/><Relationship Id="rId8" Type="http://schemas.openxmlformats.org/officeDocument/2006/relationships/image" Target="../media/image1621.png"/><Relationship Id="rId9" Type="http://schemas.openxmlformats.org/officeDocument/2006/relationships/image" Target="../media/image1622.svg"/><Relationship Id="rId10" Type="http://schemas.openxmlformats.org/officeDocument/2006/relationships/image" Target="../media/image167.png"/><Relationship Id="rId11" Type="http://schemas.openxmlformats.org/officeDocument/2006/relationships/image" Target="../media/image168.sv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2148840"/>
            <a:ext cx="109728" cy="146304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와이낫 웹툰 → 영상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시스템 구성도 — Workflow · 인프라 · 코드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05840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C9D1DB"/>
                </a:solidFill>
                <a:latin typeface="맑은 고딕"/>
                <a:ea typeface="맑은 고딕"/>
              </a:rPr>
              <a:t>기준: 2026-10-15  |  운영 이미지 ci-56f9c578 (MR !265)  |  개발 이미지 ci-301cab34</a:t>
            </a:r>
          </a:p>
          <a:p>
            <a:pPr algn="l"/>
            <a:r>
              <a:rPr sz="1300" b="0">
                <a:solidFill>
                  <a:srgbClr val="C9D1DB"/>
                </a:solidFill>
                <a:latin typeface="맑은 고딕"/>
                <a:ea typeface="맑은 고딕"/>
              </a:rPr>
              <a:t>AWS 아이콘: AWS Architecture Icons (Release 19-2024.06.07) 공식 아이콘 사용</a:t>
            </a:r>
          </a:p>
        </p:txBody>
      </p:sp>
      <p:pic>
        <p:nvPicPr>
          <p:cNvPr id="7" name="Graphic 21" descr="Amazon Route 53 service icon.">
            <a:extLst>
              <a:ext uri="{FF2B5EF4-FFF2-40B4-BE49-F238E27FC236}">
                <a16:creationId xmlns:a16="http://schemas.microsoft.com/office/drawing/2014/main" id="{4B6B7262-A401-4545-BE78-5138448D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498079" y="51206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36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C2D838C-4431-4882-B79B-8B5260020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1040" y="5120640"/>
            <a:ext cx="548640" cy="548640"/>
          </a:xfrm>
          <a:prstGeom prst="rect">
            <a:avLst/>
          </a:prstGeom>
        </p:spPr>
      </p:pic>
      <p:pic>
        <p:nvPicPr>
          <p:cNvPr id="9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3F1B22E0-0F15-415C-B511-F550A9AD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144000" y="51206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966960" y="5120640"/>
            <a:ext cx="548640" cy="548640"/>
          </a:xfrm>
          <a:prstGeom prst="rect">
            <a:avLst/>
          </a:prstGeom>
        </p:spPr>
      </p:pic>
      <p:pic>
        <p:nvPicPr>
          <p:cNvPr id="11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10789920" y="512064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261872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34440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전체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280160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화면 입력(①)부터 최종 영상(output)까지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883664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56232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④ 영상 단계 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01952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키 장면 방식: 러프 → 완성 그림 → 구간 영상 → 합치기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505456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78024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요청 처리 흐름 ·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23744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브라우저 → ALB → 프런트/앱 → 모델 → 저장소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99816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인프라 구성도 —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145536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whynot-prod-eks · ap-northeast-2 / us-west-2 · 외부 모델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21608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인프라 구성도 — 개발 · 배포 경로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67328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고객 GitLab · ArgoCD / 통합계정 GitLab CI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43400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AI 모델 · 데이터 저장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389120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어느 단계가 어떤 모델과 저장소를 쓰는가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992624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65192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코드 구조 (tree)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010912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리포 최상위 · 백엔드 · 영상 모듈 · 프런트 · 배포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614416"/>
            <a:ext cx="384048" cy="384048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586984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맑은 고딕"/>
                <a:ea typeface="맑은 고딕"/>
              </a:rPr>
              <a:t>코드 압축본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632704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맑은 고딕"/>
                <a:ea typeface="맑은 고딕"/>
              </a:rPr>
              <a:t>GitHub 업로드용 zip 구성과 제외 파일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1. 전체 Workflow — 화면 입력부터 최종 영상까지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사용자는 화면 4단계(①→④)만 진행한다. 각 단계 버튼이 /api/vpoc/…/run/&lt;action&gt; 을 부르고, 서버가 백그라운드로 모델을 호출한다.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3</a:t>
            </a:r>
          </a:p>
        </p:txBody>
      </p:sp>
      <p:pic>
        <p:nvPicPr>
          <p:cNvPr id="7" name="Graphic 23" descr="Users resource icon for the General Icons category.">
            <a:extLst>
              <a:ext uri="{FF2B5EF4-FFF2-40B4-BE49-F238E27FC236}">
                <a16:creationId xmlns:a16="http://schemas.microsoft.com/office/drawing/2014/main" id="{E85E2EAD-D4A1-4BCE-B3D6-524E21E46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 flipH="1">
            <a:off x="320040" y="132588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7159" y="1892807"/>
            <a:ext cx="914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사용자
(기획자)</a:t>
            </a:r>
          </a:p>
        </p:txBody>
      </p:sp>
      <p:pic>
        <p:nvPicPr>
          <p:cNvPr id="9" name="Graphic 68" descr="Client resource icon for the General Icons category.">
            <a:extLst>
              <a:ext uri="{FF2B5EF4-FFF2-40B4-BE49-F238E27FC236}">
                <a16:creationId xmlns:a16="http://schemas.microsoft.com/office/drawing/2014/main" id="{B409BAE7-B594-48DE-A515-288D23E67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40" y="2514600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39" y="3081528"/>
            <a:ext cx="10058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브라우저
화면 vpoc.js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1234440"/>
            <a:ext cx="23317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17320" y="123444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417320" y="1463040"/>
            <a:ext cx="2331720" cy="155448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08760" y="1271016"/>
            <a:ext cx="214883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① 원작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691640"/>
            <a:ext cx="2112263" cy="2011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웹툰 컷 이미지 업로드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(여러 장 · 순서대로)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▶ run/analyze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Claude가 컷을 읽어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이야기 · 인물 · 장면 추출</a:t>
            </a:r>
          </a:p>
        </p:txBody>
      </p:sp>
      <p:pic>
        <p:nvPicPr>
          <p:cNvPr id="16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869948" y="393192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641348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S3 업로드</a:t>
            </a:r>
          </a:p>
        </p:txBody>
      </p:sp>
      <p:pic>
        <p:nvPicPr>
          <p:cNvPr id="18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738628" y="393192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10028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Claude
(Bedrock)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8183" y="2468880"/>
            <a:ext cx="146304" cy="0"/>
          </a:xfrm>
          <a:prstGeom prst="line">
            <a:avLst/>
          </a:prstGeom>
          <a:ln w="285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13632" y="1234440"/>
            <a:ext cx="23317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913632" y="123444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913632" y="1463040"/>
            <a:ext cx="2331720" cy="155448"/>
          </a:xfrm>
          <a:prstGeom prst="rect">
            <a:avLst/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05072" y="1271016"/>
            <a:ext cx="214883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② 확인 ·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691640"/>
            <a:ext cx="2112263" cy="2011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인물 · 줄거리 확인 및 수정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영상 모델: Seedance 2.0/2.5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제작 방식: 키 장면(기본) / 샷별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길이 20·30·40·60초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화풍: 실사 / 애니 / 웹툰 원작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▶ run/prepare</a:t>
            </a:r>
          </a:p>
        </p:txBody>
      </p:sp>
      <p:pic>
        <p:nvPicPr>
          <p:cNvPr id="26" name="Graphic 16" descr="JSON script resource icon for the General Icons category.">
            <a:extLst>
              <a:ext uri="{FF2B5EF4-FFF2-40B4-BE49-F238E27FC236}">
                <a16:creationId xmlns:a16="http://schemas.microsoft.com/office/drawing/2014/main" id="{1298F9E7-49D0-4DDB-8EA2-DCEBE9AB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4800600" y="393192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4572000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계획 저장
state.json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54496" y="2468880"/>
            <a:ext cx="146304" cy="0"/>
          </a:xfrm>
          <a:prstGeom prst="line">
            <a:avLst/>
          </a:prstGeom>
          <a:ln w="285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9944" y="1234440"/>
            <a:ext cx="23317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409944" y="123444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409944" y="1463040"/>
            <a:ext cx="2331720" cy="155448"/>
          </a:xfrm>
          <a:prstGeom prst="rect">
            <a:avLst/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01383" y="1271016"/>
            <a:ext cx="214883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③ 계획 승인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1691640"/>
            <a:ext cx="2112263" cy="2011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인물 그림 (웹툰에서 그대로)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Claude 콘티: 5초마다 키 장면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Seedream Flash 러프 스케치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사용자 수정 · 다시 그리기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승인 → Seedream Pro 완성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▶ run/generate</a:t>
            </a:r>
          </a:p>
        </p:txBody>
      </p:sp>
      <p:pic>
        <p:nvPicPr>
          <p:cNvPr id="34" name="Graphic 50" descr="Image resource icon for the Amazon ECR service.">
            <a:extLst>
              <a:ext uri="{FF2B5EF4-FFF2-40B4-BE49-F238E27FC236}">
                <a16:creationId xmlns:a16="http://schemas.microsoft.com/office/drawing/2014/main" id="{B9A0969C-16F2-475F-8336-55CD7C692D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2572" y="3931920"/>
            <a:ext cx="502920" cy="502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33972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키 장면
그림</a:t>
            </a:r>
          </a:p>
        </p:txBody>
      </p:sp>
      <p:pic>
        <p:nvPicPr>
          <p:cNvPr id="36" name="Graphic 8" descr="Generic application resource icon for the General Icons category.">
            <a:extLst>
              <a:ext uri="{FF2B5EF4-FFF2-40B4-BE49-F238E27FC236}">
                <a16:creationId xmlns:a16="http://schemas.microsoft.com/office/drawing/2014/main" id="{74D7B39F-56C4-4E0C-8942-64E440F75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7731252" y="393192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7502652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Seedream
(BytePlus)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50807" y="2468880"/>
            <a:ext cx="146304" cy="0"/>
          </a:xfrm>
          <a:prstGeom prst="line">
            <a:avLst/>
          </a:prstGeom>
          <a:ln w="285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06256" y="1234440"/>
            <a:ext cx="23317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8906256" y="123444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906256" y="1463040"/>
            <a:ext cx="2331720" cy="155448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97696" y="1271016"/>
            <a:ext cx="214883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④ 영상 만들기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984" y="1691640"/>
            <a:ext cx="2112263" cy="2011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구간마다 Seedance 1개씩 순차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첫 장면 → 끝 장면 (5초)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장면 설명 + 소리(오디오)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서버 드라이버가 20초마다 진행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샷별 재생성 · 의견 반영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▶ run/stitch</a:t>
            </a:r>
          </a:p>
        </p:txBody>
      </p:sp>
      <p:pic>
        <p:nvPicPr>
          <p:cNvPr id="44" name="Graphic 53" descr="Multimedia resource icon for the General Icons category.">
            <a:extLst>
              <a:ext uri="{FF2B5EF4-FFF2-40B4-BE49-F238E27FC236}">
                <a16:creationId xmlns:a16="http://schemas.microsoft.com/office/drawing/2014/main" id="{57872EAE-9987-42DB-B7E6-3CB6611B88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8884" y="3931920"/>
            <a:ext cx="502920" cy="502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30284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Seedance
영상+소리</a:t>
            </a:r>
          </a:p>
        </p:txBody>
      </p:sp>
      <p:pic>
        <p:nvPicPr>
          <p:cNvPr id="46" name="Graphic 15" descr="Gear resource icon for the General Icons category.">
            <a:extLst>
              <a:ext uri="{FF2B5EF4-FFF2-40B4-BE49-F238E27FC236}">
                <a16:creationId xmlns:a16="http://schemas.microsoft.com/office/drawing/2014/main" id="{AE1576A8-8CB6-47F8-A8FA-6D23E6ED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0227563" y="393192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9998963" y="4453127"/>
            <a:ext cx="9601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ffmpeg
합치기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8680" y="2788920"/>
            <a:ext cx="530352" cy="0"/>
          </a:xfrm>
          <a:prstGeom prst="line">
            <a:avLst/>
          </a:prstGeom>
          <a:ln w="285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417320" y="5257800"/>
            <a:ext cx="982980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600200" y="5458968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2286000" y="5376672"/>
            <a:ext cx="877824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ED7100"/>
                </a:solidFill>
                <a:latin typeface="맑은 고딕"/>
                <a:ea typeface="맑은 고딕"/>
              </a:rPr>
              <a:t>OUTPUT  </a:t>
            </a:r>
            <a:r>
              <a:rPr sz="1300" b="1">
                <a:solidFill>
                  <a:srgbClr val="1B1F24"/>
                </a:solidFill>
                <a:latin typeface="맑은 고딕"/>
                <a:ea typeface="맑은 고딕"/>
              </a:rPr>
              <a:t>final.mp4 (H.264 + AAC 소리)</a:t>
            </a:r>
          </a:p>
          <a:p>
            <a:pPr algn="l"/>
            <a:r>
              <a:rPr sz="1050" b="0">
                <a:solidFill>
                  <a:srgbClr val="1B1F24"/>
                </a:solidFill>
                <a:latin typeface="맑은 고딕"/>
                <a:ea typeface="맑은 고딕"/>
              </a:rPr>
              <a:t>S3 users/{사용자}/video/{프로젝트}/vpoc1/plans/{계획}/final.mp4 에 저장 → 임시 서명 URL(presigned)로 화면에서 재생 · 다운로드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018520" y="4526280"/>
            <a:ext cx="0" cy="713232"/>
          </a:xfrm>
          <a:prstGeom prst="line">
            <a:avLst/>
          </a:prstGeom>
          <a:ln w="28575">
            <a:solidFill>
              <a:srgbClr val="ED7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2. ④ 영상 단계 상세 — 키 장면(콘티)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30초 예시: 5초 간격 키 장면 7장(K0~K6) → 구간 6개(S1~S6)를 Seedance가 한 번에 하나씩 만든다 → 이어 붙여 final.mp4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02920" y="1280160"/>
            <a:ext cx="274320" cy="27432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61872"/>
            <a:ext cx="1188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232F3E"/>
                </a:solidFill>
                <a:latin typeface="맑은 고딕"/>
                <a:ea typeface="맑은 고딕"/>
              </a:rPr>
              <a:t>콘티 작성</a:t>
            </a:r>
          </a:p>
        </p:txBody>
      </p:sp>
      <p:pic>
        <p:nvPicPr>
          <p:cNvPr id="10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57400" y="1261872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1691640"/>
            <a:ext cx="2011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Claude(Fable 5.1 → Opus 계열 자동 대체)가
웹툰 흐름을 처음~끝 5초 간격 장면으로 나눔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9464" y="1965960"/>
            <a:ext cx="164592" cy="0"/>
          </a:xfrm>
          <a:prstGeom prst="line">
            <a:avLst/>
          </a:prstGeom>
          <a:ln w="2540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118872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834640" y="1280160"/>
            <a:ext cx="274320" cy="27432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261872"/>
            <a:ext cx="1188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232F3E"/>
                </a:solidFill>
                <a:latin typeface="맑은 고딕"/>
                <a:ea typeface="맑은 고딕"/>
              </a:rPr>
              <a:t>러프 스케치</a:t>
            </a:r>
          </a:p>
        </p:txBody>
      </p:sp>
      <p:pic>
        <p:nvPicPr>
          <p:cNvPr id="16" name="Graphic 50" descr="Image resource icon for the Amazon ECR service.">
            <a:extLst>
              <a:ext uri="{FF2B5EF4-FFF2-40B4-BE49-F238E27FC236}">
                <a16:creationId xmlns:a16="http://schemas.microsoft.com/office/drawing/2014/main" id="{B9A0969C-16F2-475F-8336-55CD7C692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9120" y="1261872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34640" y="1691640"/>
            <a:ext cx="2011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Seedream 5.0 Flash (장당 약 11초)
사용자가 문장 수정 · 다시 그리기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1183" y="1965960"/>
            <a:ext cx="164593" cy="0"/>
          </a:xfrm>
          <a:prstGeom prst="line">
            <a:avLst/>
          </a:prstGeom>
          <a:ln w="2540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118872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166359" y="1280160"/>
            <a:ext cx="274320" cy="27432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1261872"/>
            <a:ext cx="1188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232F3E"/>
                </a:solidFill>
                <a:latin typeface="맑은 고딕"/>
                <a:ea typeface="맑은 고딕"/>
              </a:rPr>
              <a:t>완성 그림</a:t>
            </a:r>
          </a:p>
        </p:txBody>
      </p:sp>
      <p:pic>
        <p:nvPicPr>
          <p:cNvPr id="22" name="Graphic 50" descr="Image resource icon for the Amazon ECR service.">
            <a:extLst>
              <a:ext uri="{FF2B5EF4-FFF2-40B4-BE49-F238E27FC236}">
                <a16:creationId xmlns:a16="http://schemas.microsoft.com/office/drawing/2014/main" id="{B9A0969C-16F2-475F-8336-55CD7C692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0840" y="1261872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66359" y="1691640"/>
            <a:ext cx="2011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승인 후 Seedream 5.0 Pro (장당 60~100초)
러프가 안 바뀐 장면은 재사용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32904" y="1965960"/>
            <a:ext cx="164592" cy="0"/>
          </a:xfrm>
          <a:prstGeom prst="line">
            <a:avLst/>
          </a:prstGeom>
          <a:ln w="2540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118872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498079" y="1280160"/>
            <a:ext cx="274320" cy="27432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1261872"/>
            <a:ext cx="1188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232F3E"/>
                </a:solidFill>
                <a:latin typeface="맑은 고딕"/>
                <a:ea typeface="맑은 고딕"/>
              </a:rPr>
              <a:t>구간 영상</a:t>
            </a:r>
          </a:p>
        </p:txBody>
      </p:sp>
      <p:pic>
        <p:nvPicPr>
          <p:cNvPr id="28" name="Graphic 53" descr="Multimedia resource icon for the General Icons category.">
            <a:extLst>
              <a:ext uri="{FF2B5EF4-FFF2-40B4-BE49-F238E27FC236}">
                <a16:creationId xmlns:a16="http://schemas.microsoft.com/office/drawing/2014/main" id="{57872EAE-9987-42DB-B7E6-3CB6611B88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2560" y="1261872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1691640"/>
            <a:ext cx="2011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Seedance 2.0/2.5 · 첫 프레임=K(n-1), 끝=K(n)
장면 설명 + generate_audio, 순차 1개씩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64624" y="1965960"/>
            <a:ext cx="164592" cy="0"/>
          </a:xfrm>
          <a:prstGeom prst="line">
            <a:avLst/>
          </a:prstGeom>
          <a:ln w="2540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38359" y="118872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829799" y="1280160"/>
            <a:ext cx="274320" cy="27432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1261872"/>
            <a:ext cx="1188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232F3E"/>
                </a:solidFill>
                <a:latin typeface="맑은 고딕"/>
                <a:ea typeface="맑은 고딕"/>
              </a:rPr>
              <a:t>합치기</a:t>
            </a:r>
          </a:p>
        </p:txBody>
      </p:sp>
      <p:pic>
        <p:nvPicPr>
          <p:cNvPr id="34" name="Graphic 15" descr="Gear resource icon for the General Icons category.">
            <a:extLst>
              <a:ext uri="{FF2B5EF4-FFF2-40B4-BE49-F238E27FC236}">
                <a16:creationId xmlns:a16="http://schemas.microsoft.com/office/drawing/2014/main" id="{AE1576A8-8CB6-47F8-A8FA-6D23E6ED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11384280" y="1261872"/>
            <a:ext cx="384048" cy="384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9829799" y="1691640"/>
            <a:ext cx="2011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stitcher.py (ffmpeg concat)
소리 없는 구간은 무음 트랙으로 맞춤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017520"/>
            <a:ext cx="5486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맑은 고딕"/>
                <a:ea typeface="맑은 고딕"/>
              </a:rPr>
              <a:t>키 장면 · 구간 타임라인 (30초)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548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0초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700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S1 · 5초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6712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16712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5초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9864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89864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S2 · 5초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85876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10초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9028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9028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S3 · 5초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5040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5040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K3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15초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8192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8192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S4 · 5초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4204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4204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K4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20초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7356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7356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S5 · 5초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3368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93368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K5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25초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65208" y="3703320"/>
            <a:ext cx="923544" cy="32004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665208" y="3703320"/>
            <a:ext cx="923544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S6 · 5초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25328" y="361188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0625328" y="3611880"/>
            <a:ext cx="694944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K6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30초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75488" y="4389120"/>
            <a:ext cx="10844784" cy="0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686800" y="443484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→ final.mp4 30초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1480" y="4709160"/>
            <a:ext cx="5577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411480" y="4709160"/>
            <a:ext cx="5577840" cy="384048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411480" y="4937760"/>
            <a:ext cx="5577840" cy="1554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02920" y="4745736"/>
            <a:ext cx="539495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진행 방식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" y="5166360"/>
            <a:ext cx="5358383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구간은 병렬이 아니라 순차 (설계자 지시) — 동시 1개 (VPOC_ARK_MAX_INFLIGHT=1)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서버 드라이버 스레드가 20초마다 상태 확인 → 창을 닫아도 끝까지 진행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15분 이상 멈춘 구간은 '검토 필요'로 표시, 다시 시도 가능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이전 단계로 돌아가 수정하면 그 이후 단계만 다시 진행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72200" y="4709160"/>
            <a:ext cx="5577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6172200" y="4709160"/>
            <a:ext cx="5577840" cy="384048"/>
          </a:xfrm>
          <a:prstGeom prst="roundRect">
            <a:avLst>
              <a:gd name="adj" fmla="val 8000"/>
            </a:avLst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172200" y="4937760"/>
            <a:ext cx="5577840" cy="155448"/>
          </a:xfrm>
          <a:prstGeom prst="rect">
            <a:avLst/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263640" y="4745736"/>
            <a:ext cx="539495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샷별 방식 (선택 시)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81928" y="5166360"/>
            <a:ext cx="5358383" cy="1143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샷마다 참고 이미지(인물 그림·웹툰 컷) 최대 9장 + 장면 설명을 Seedance에 전달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샷 길이 4~15초 (Seedance 2.0 제한)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첫/끝 프레임 방식과 참고 이미지 방식은 함께 쓸 수 없음 (API 제약)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Luma Ray2(Bedrock) 선택 시 기존 경로(us-west-2) 사용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3. 요청 처리 흐름 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화면은 정적 파일(nginx), 기능은 /api 로 앱(Flask)에 간다. 오래 걸리는 작업은 즉시 응답 후 백그라운드 스레드가 처리하고, 화면은 상태를 주기적으로 읽는다.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5</a:t>
            </a:r>
          </a:p>
        </p:txBody>
      </p:sp>
      <p:pic>
        <p:nvPicPr>
          <p:cNvPr id="7" name="Graphic 68" descr="Client resource icon for the General Icons category.">
            <a:extLst>
              <a:ext uri="{FF2B5EF4-FFF2-40B4-BE49-F238E27FC236}">
                <a16:creationId xmlns:a16="http://schemas.microsoft.com/office/drawing/2014/main" id="{B409BAE7-B594-48DE-A515-288D23E67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41732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3" y="2002536"/>
            <a:ext cx="914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브라우저</a:t>
            </a:r>
          </a:p>
        </p:txBody>
      </p:sp>
      <p:pic>
        <p:nvPicPr>
          <p:cNvPr id="9" name="Graphic 21" descr="Amazon Route 53 service icon.">
            <a:extLst>
              <a:ext uri="{FF2B5EF4-FFF2-40B4-BE49-F238E27FC236}">
                <a16:creationId xmlns:a16="http://schemas.microsoft.com/office/drawing/2014/main" id="{4B6B7262-A401-4545-BE78-5138448D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1600200" y="1417320"/>
            <a:ext cx="566928" cy="566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380744" y="2002536"/>
            <a:ext cx="10058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Route 53
도메인</a:t>
            </a:r>
          </a:p>
        </p:txBody>
      </p:sp>
      <p:pic>
        <p:nvPicPr>
          <p:cNvPr id="11" name="Graphic 36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C2D838C-4431-4882-B79B-8B52600200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4640" y="141732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23744" y="2002536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ALB · HTTPS
(ACM 인증서)</a:t>
            </a:r>
          </a:p>
        </p:txBody>
      </p:sp>
      <p:pic>
        <p:nvPicPr>
          <p:cNvPr id="13" name="Graphic 79" descr="Container 1 resource icon for the Amazon ECS service.">
            <a:extLst>
              <a:ext uri="{FF2B5EF4-FFF2-40B4-BE49-F238E27FC236}">
                <a16:creationId xmlns:a16="http://schemas.microsoft.com/office/drawing/2014/main" id="{1153087F-1BE2-4F50-AC62-5D2F3E9EA5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10972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09060" y="1618488"/>
            <a:ext cx="18288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frontend · nginx
index.html · app.js · vpoc.js</a:t>
            </a:r>
          </a:p>
        </p:txBody>
      </p:sp>
      <p:pic>
        <p:nvPicPr>
          <p:cNvPr id="15" name="Graphic 78" descr="Container 2 resource icon for the Amazon ECS service.">
            <a:extLst>
              <a:ext uri="{FF2B5EF4-FFF2-40B4-BE49-F238E27FC236}">
                <a16:creationId xmlns:a16="http://schemas.microsoft.com/office/drawing/2014/main" id="{A9FA6BFC-A173-41FF-9DA5-C1E5C0EA15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224028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09060" y="2761488"/>
            <a:ext cx="18288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app · Flask + gunicorn
server.py · vpoc/routes.py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1700784"/>
            <a:ext cx="621792" cy="0"/>
          </a:xfrm>
          <a:prstGeom prst="line">
            <a:avLst/>
          </a:prstGeom>
          <a:ln w="1905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94560" y="1700784"/>
            <a:ext cx="621792" cy="0"/>
          </a:xfrm>
          <a:prstGeom prst="line">
            <a:avLst/>
          </a:prstGeom>
          <a:ln w="1905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29000" y="1353312"/>
            <a:ext cx="1124712" cy="246888"/>
          </a:xfrm>
          <a:prstGeom prst="line">
            <a:avLst/>
          </a:prstGeom>
          <a:ln w="1905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59836" y="1184148"/>
            <a:ext cx="14630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232F3E"/>
                </a:solidFill>
                <a:latin typeface="맑은 고딕"/>
                <a:ea typeface="맑은 고딕"/>
              </a:rPr>
              <a:t>/  (화면)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9000" y="1828800"/>
            <a:ext cx="1124712" cy="658368"/>
          </a:xfrm>
          <a:prstGeom prst="line">
            <a:avLst/>
          </a:prstGeom>
          <a:ln w="19050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59836" y="2176272"/>
            <a:ext cx="14630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232F3E"/>
                </a:solidFill>
                <a:latin typeface="맑은 고딕"/>
                <a:ea typeface="맑은 고딕"/>
              </a:rPr>
              <a:t>/api  (기능)</a:t>
            </a:r>
          </a:p>
        </p:txBody>
      </p:sp>
      <p:pic>
        <p:nvPicPr>
          <p:cNvPr id="23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7315200" y="1097280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45552" y="117043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Bedrock · Claude 분석/콘티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102352" y="1298448"/>
            <a:ext cx="2194560" cy="1188720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8" descr="Generic application resource icon for the General Icons category.">
            <a:extLst>
              <a:ext uri="{FF2B5EF4-FFF2-40B4-BE49-F238E27FC236}">
                <a16:creationId xmlns:a16="http://schemas.microsoft.com/office/drawing/2014/main" id="{74D7B39F-56C4-4E0C-8942-64E440F75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7315200" y="1645919"/>
            <a:ext cx="41148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7845552" y="171907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BytePlus · Seedream/Seedance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102352" y="1847088"/>
            <a:ext cx="2194560" cy="640080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3" descr="Amazon Neptune service icon.">
            <a:extLst>
              <a:ext uri="{FF2B5EF4-FFF2-40B4-BE49-F238E27FC236}">
                <a16:creationId xmlns:a16="http://schemas.microsoft.com/office/drawing/2014/main" id="{A1527821-B142-422C-B81F-816028A9B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7315200" y="2194560"/>
            <a:ext cx="41148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7845552" y="226771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Neptune · 사용자/프로젝트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102352" y="2395728"/>
            <a:ext cx="2194560" cy="91440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7315200" y="2743200"/>
            <a:ext cx="41148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7845552" y="281635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S3 · 업로드/계획/영상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02352" y="2487168"/>
            <a:ext cx="2194560" cy="457200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" y="3310128"/>
            <a:ext cx="10972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맑은 고딕"/>
                <a:ea typeface="맑은 고딕"/>
              </a:rPr>
              <a:t>단계별 API (모두 /api/vpoc/p/&lt;프로젝트&gt;/plans/&lt;계획&gt; 아래)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3657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91840"/>
                <a:gridCol w="420624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호출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서버 처리 (vpoc/routes.py)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부르는 모델 / 저장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POST …/uploads  →  run/analyze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이미지 정규화 · 분석용 타일 → 이야기·인물 추출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Claude (Bedrock) · S3 uploads/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PUT …/steps/2  →  run/prepare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제작 방식·길이·화풍 저장 → 인물 그림 · 콘티 준비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Claude · Seedream / SD3.5 · state.json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run/redraw (keyframeId)  →  run/generate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러프 다시 그리기 → 승인 시 완성 그림 + 구간 제출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Seedream Flash/Pro · keyframes/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GET plan (폴링) · run/retry · regenerate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구간 상태 갱신 · 재시도 · 샷 의견 반영 재생성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Seedance (BytePlus) · jobs/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run/stitch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구간 영상을 ffmpeg 로 이어 붙임 (소리 맞춤)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S3 final.mp4 · presigned URL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POST …/back  ·  /api/auth/renew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이전 단계로 돌아가기 · 로그인 유지(7일 토큰)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state.json · Neptune 사용자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" name="Rectangle 83">
            <a:extLst>
              <a:ext uri="{FF2B5EF4-FFF2-40B4-BE49-F238E27FC236}">
                <a16:creationId xmlns:a16="http://schemas.microsoft.com/office/drawing/2014/main" id="{37BF3EAE-869F-450C-8A86-45F858631B52}"/>
              </a:ext>
            </a:extLst>
          </p:cNvPr>
          <p:cNvSpPr/>
          <p:nvPr/>
        </p:nvSpPr>
        <p:spPr>
          <a:xfrm>
            <a:off x="9464040" y="3703320"/>
            <a:ext cx="2514600" cy="265176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90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와이랩 계정 (임시 대여)</a:t>
            </a:r>
          </a:p>
        </p:txBody>
      </p:sp>
      <p:pic>
        <p:nvPicPr>
          <p:cNvPr id="57" name="Graphic 84" descr="AWS account group icon.">
            <a:extLst>
              <a:ext uri="{FF2B5EF4-FFF2-40B4-BE49-F238E27FC236}">
                <a16:creationId xmlns:a16="http://schemas.microsoft.com/office/drawing/2014/main" id="{503AD048-8A3E-4092-971C-9B6BEEA988B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9464040" y="3703320"/>
            <a:ext cx="365760" cy="365760"/>
          </a:xfrm>
          <a:prstGeom prst="rect">
            <a:avLst/>
          </a:prstGeom>
        </p:spPr>
      </p:pic>
      <p:sp>
        <p:nvSpPr>
          <p:cNvPr id="50" name="Rectangle 103" descr="Generic group dashed.">
            <a:extLst>
              <a:ext uri="{FF2B5EF4-FFF2-40B4-BE49-F238E27FC236}">
                <a16:creationId xmlns:a16="http://schemas.microsoft.com/office/drawing/2014/main" id="{A527077A-0B82-41F1-A3B2-D6090A51EEFE}"/>
              </a:ext>
            </a:extLst>
          </p:cNvPr>
          <p:cNvSpPr/>
          <p:nvPr/>
        </p:nvSpPr>
        <p:spPr>
          <a:xfrm>
            <a:off x="9464040" y="1005840"/>
            <a:ext cx="2514600" cy="24231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9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외부 · BytePlus ModelArk (ap-southeast)</a:t>
            </a:r>
          </a:p>
        </p:txBody>
      </p:sp>
      <p:sp>
        <p:nvSpPr>
          <p:cNvPr id="44" name="Rectangle 60" descr="Region group">
            <a:extLst>
              <a:ext uri="{FF2B5EF4-FFF2-40B4-BE49-F238E27FC236}">
                <a16:creationId xmlns:a16="http://schemas.microsoft.com/office/drawing/2014/main" id="{5DD3887C-00A0-42E0-8F27-B1948269F05B}"/>
              </a:ext>
            </a:extLst>
          </p:cNvPr>
          <p:cNvSpPr/>
          <p:nvPr/>
        </p:nvSpPr>
        <p:spPr>
          <a:xfrm>
            <a:off x="2240280" y="4956048"/>
            <a:ext cx="6903720" cy="12618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0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us-west-2 (오리건)</a:t>
            </a:r>
          </a:p>
        </p:txBody>
      </p:sp>
      <p:pic>
        <p:nvPicPr>
          <p:cNvPr id="45" name="Graphic 61" descr="Region group icon.">
            <a:extLst>
              <a:ext uri="{FF2B5EF4-FFF2-40B4-BE49-F238E27FC236}">
                <a16:creationId xmlns:a16="http://schemas.microsoft.com/office/drawing/2014/main" id="{8FDA4CC8-83EE-49C8-BDE5-8EA871C8AD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240280" y="4956048"/>
            <a:ext cx="365760" cy="36576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298B9DEF-F387-4811-A9E9-E0A6C0765BE8}"/>
              </a:ext>
            </a:extLst>
          </p:cNvPr>
          <p:cNvSpPr/>
          <p:nvPr/>
        </p:nvSpPr>
        <p:spPr>
          <a:xfrm>
            <a:off x="3931920" y="2194560"/>
            <a:ext cx="2907792" cy="2331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9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74372F13-6358-4435-9927-FF2D240DA1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3931920" y="2194560"/>
            <a:ext cx="365760" cy="365760"/>
          </a:xfrm>
          <a:prstGeom prst="rect">
            <a:avLst/>
          </a:prstGeom>
        </p:spPr>
      </p:pic>
      <p:sp>
        <p:nvSpPr>
          <p:cNvPr id="23" name="Rectangle 73">
            <a:extLst>
              <a:ext uri="{FF2B5EF4-FFF2-40B4-BE49-F238E27FC236}">
                <a16:creationId xmlns:a16="http://schemas.microsoft.com/office/drawing/2014/main" id="{6DE3317B-F4E9-44E3-B432-885494FBDBE6}"/>
              </a:ext>
            </a:extLst>
          </p:cNvPr>
          <p:cNvSpPr/>
          <p:nvPr/>
        </p:nvSpPr>
        <p:spPr>
          <a:xfrm>
            <a:off x="2532888" y="2194560"/>
            <a:ext cx="1280160" cy="233172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9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Public subnet</a:t>
            </a:r>
          </a:p>
        </p:txBody>
      </p:sp>
      <p:pic>
        <p:nvPicPr>
          <p:cNvPr id="24" name="Graphic 74" descr="Public subnet group icon. ">
            <a:extLst>
              <a:ext uri="{FF2B5EF4-FFF2-40B4-BE49-F238E27FC236}">
                <a16:creationId xmlns:a16="http://schemas.microsoft.com/office/drawing/2014/main" id="{96939921-066A-4750-9375-7F09DF7775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2532888" y="2194560"/>
            <a:ext cx="365760" cy="365760"/>
          </a:xfrm>
          <a:prstGeom prst="rect">
            <a:avLst/>
          </a:prstGeom>
        </p:spPr>
      </p:pic>
      <p:sp>
        <p:nvSpPr>
          <p:cNvPr id="21" name="Rectangle 69">
            <a:extLst>
              <a:ext uri="{FF2B5EF4-FFF2-40B4-BE49-F238E27FC236}">
                <a16:creationId xmlns:a16="http://schemas.microsoft.com/office/drawing/2014/main" id="{21F720A2-D555-4892-9C0D-4F763BD1BB42}"/>
              </a:ext>
            </a:extLst>
          </p:cNvPr>
          <p:cNvSpPr/>
          <p:nvPr/>
        </p:nvSpPr>
        <p:spPr>
          <a:xfrm>
            <a:off x="2395728" y="1783080"/>
            <a:ext cx="4572000" cy="288036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000" dirty="0">
                <a:ln w="0"/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VPC whynot-prod-vpc 100.20.0.0/20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E45B4EB6-8026-4795-A01B-64C99F1EBC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395728" y="1783080"/>
            <a:ext cx="365760" cy="365760"/>
          </a:xfrm>
          <a:prstGeom prst="rect">
            <a:avLst/>
          </a:prstGeom>
        </p:spPr>
      </p:pic>
      <p:sp>
        <p:nvSpPr>
          <p:cNvPr id="19" name="Rectangle 60" descr="Region group">
            <a:extLst>
              <a:ext uri="{FF2B5EF4-FFF2-40B4-BE49-F238E27FC236}">
                <a16:creationId xmlns:a16="http://schemas.microsoft.com/office/drawing/2014/main" id="{5DD3887C-00A0-42E0-8F27-B1948269F05B}"/>
              </a:ext>
            </a:extLst>
          </p:cNvPr>
          <p:cNvSpPr/>
          <p:nvPr/>
        </p:nvSpPr>
        <p:spPr>
          <a:xfrm>
            <a:off x="2240280" y="1371600"/>
            <a:ext cx="6903720" cy="3429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0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서울 리전 ap-northeast-2</a:t>
            </a:r>
          </a:p>
        </p:txBody>
      </p:sp>
      <p:pic>
        <p:nvPicPr>
          <p:cNvPr id="20" name="Graphic 61" descr="Region group icon.">
            <a:extLst>
              <a:ext uri="{FF2B5EF4-FFF2-40B4-BE49-F238E27FC236}">
                <a16:creationId xmlns:a16="http://schemas.microsoft.com/office/drawing/2014/main" id="{8FDA4CC8-83EE-49C8-BDE5-8EA871C8AD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240280" y="1371600"/>
            <a:ext cx="365760" cy="365760"/>
          </a:xfrm>
          <a:prstGeom prst="rect">
            <a:avLst/>
          </a:prstGeom>
        </p:spPr>
      </p:pic>
      <p:sp>
        <p:nvSpPr>
          <p:cNvPr id="9" name="Rectangle 54">
            <a:extLst>
              <a:ext uri="{FF2B5EF4-FFF2-40B4-BE49-F238E27FC236}">
                <a16:creationId xmlns:a16="http://schemas.microsoft.com/office/drawing/2014/main" id="{302A5B0E-ABA9-48CD-84D0-B78867AD79EC}"/>
              </a:ext>
            </a:extLst>
          </p:cNvPr>
          <p:cNvSpPr/>
          <p:nvPr/>
        </p:nvSpPr>
        <p:spPr>
          <a:xfrm>
            <a:off x="1051560" y="1005840"/>
            <a:ext cx="8229600" cy="534924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000" dirty="0">
                <a:solidFill>
                  <a:schemeClr val="tx1"/>
                </a:solidFill>
                <a:latin typeface="맑은 고딕" panose="020B0604020202020204" pitchFamily="34" charset="0"/>
                <a:cs typeface="Arial" panose="020B0604020202020204" pitchFamily="34" charset="0"/>
                <a:ea typeface="맑은 고딕"/>
              </a:rPr>
              <a:t>AWS Cloud — 와이낫 계정 (089540175779)</a:t>
            </a:r>
          </a:p>
        </p:txBody>
      </p:sp>
      <p:pic>
        <p:nvPicPr>
          <p:cNvPr id="10" name="Graphic 55" descr="AWS Cloud group icon with AWS logo.">
            <a:extLst>
              <a:ext uri="{FF2B5EF4-FFF2-40B4-BE49-F238E27FC236}">
                <a16:creationId xmlns:a16="http://schemas.microsoft.com/office/drawing/2014/main" id="{8AB2D835-9413-49FA-ACE8-763B2FFE2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560" y="1005840"/>
            <a:ext cx="365760" cy="3657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4. 인프라 구성도 — 운영 (Production)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와이낫 계정 089540175779. 앱 파드는 IRSA 역할로만 AWS에 접근(액세스 키 없음). 외부 모델(BytePlus)은 NAT gateway 를 거쳐 HTTPS 로 부른다.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6</a:t>
            </a:r>
          </a:p>
        </p:txBody>
      </p:sp>
      <p:pic>
        <p:nvPicPr>
          <p:cNvPr id="7" name="Graphic 23" descr="Users resource icon for the General Icons category.">
            <a:extLst>
              <a:ext uri="{FF2B5EF4-FFF2-40B4-BE49-F238E27FC236}">
                <a16:creationId xmlns:a16="http://schemas.microsoft.com/office/drawing/2014/main" id="{E85E2EAD-D4A1-4BCE-B3D6-524E21E46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 flipH="1">
            <a:off x="228600" y="3429000"/>
            <a:ext cx="566928" cy="566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864" y="4014215"/>
            <a:ext cx="914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00" b="0">
                <a:solidFill>
                  <a:srgbClr val="1B1F24"/>
                </a:solidFill>
                <a:latin typeface="맑은 고딕"/>
                <a:ea typeface="맑은 고딕"/>
              </a:rPr>
              <a:t>사용자
(브라우저)</a:t>
            </a:r>
          </a:p>
        </p:txBody>
      </p:sp>
      <p:pic>
        <p:nvPicPr>
          <p:cNvPr id="11" name="Graphic 21" descr="Amazon Route 53 service icon.">
            <a:extLst>
              <a:ext uri="{FF2B5EF4-FFF2-40B4-BE49-F238E27FC236}">
                <a16:creationId xmlns:a16="http://schemas.microsoft.com/office/drawing/2014/main" id="{4B6B7262-A401-4545-BE78-5138448D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325880" y="14630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097280" y="1938528"/>
            <a:ext cx="914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Route 53</a:t>
            </a:r>
          </a:p>
        </p:txBody>
      </p:sp>
      <p:pic>
        <p:nvPicPr>
          <p:cNvPr id="13" name="Graphic 20" descr="AWS Certificate Manager (ACM) service icon.">
            <a:extLst>
              <a:ext uri="{FF2B5EF4-FFF2-40B4-BE49-F238E27FC236}">
                <a16:creationId xmlns:a16="http://schemas.microsoft.com/office/drawing/2014/main" id="{C12A3FA0-214A-4572-93DC-17771612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1325880" y="246888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005840" y="2944368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ACM
*.meta-clouds.com</a:t>
            </a:r>
          </a:p>
        </p:txBody>
      </p:sp>
      <p:pic>
        <p:nvPicPr>
          <p:cNvPr id="15" name="Graphic 19" descr="AWS Identity and Access Management (IAM) service icon.">
            <a:extLst>
              <a:ext uri="{FF2B5EF4-FFF2-40B4-BE49-F238E27FC236}">
                <a16:creationId xmlns:a16="http://schemas.microsoft.com/office/drawing/2014/main" id="{0F4A7E32-9871-406B-84F3-C360C5F0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1325880" y="4343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005840" y="4818888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IAM · IRSA
whynot-app-role</a:t>
            </a:r>
          </a:p>
        </p:txBody>
      </p:sp>
      <p:pic>
        <p:nvPicPr>
          <p:cNvPr id="17" name="Graphic 17" descr="AWS Secrets Manager service icon.">
            <a:extLst>
              <a:ext uri="{FF2B5EF4-FFF2-40B4-BE49-F238E27FC236}">
                <a16:creationId xmlns:a16="http://schemas.microsoft.com/office/drawing/2014/main" id="{A12EE907-E763-44C1-A13C-D9B87F6A1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325880" y="53492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005840" y="5824727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Secrets Manager
API 키</a:t>
            </a:r>
          </a:p>
        </p:txBody>
      </p:sp>
      <p:pic>
        <p:nvPicPr>
          <p:cNvPr id="27" name="Graphic 75" descr="NAT gateway resource icon for the Amazon VPC service.&#10;">
            <a:extLst>
              <a:ext uri="{FF2B5EF4-FFF2-40B4-BE49-F238E27FC236}">
                <a16:creationId xmlns:a16="http://schemas.microsoft.com/office/drawing/2014/main" id="{293B85F0-9CEA-4B67-90DF-E3FF57DB749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44368" y="2606040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01468" y="3035808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NAT gateway</a:t>
            </a:r>
          </a:p>
        </p:txBody>
      </p:sp>
      <p:pic>
        <p:nvPicPr>
          <p:cNvPr id="29" name="Graphic 36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C2D838C-4431-4882-B79B-8B526002008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26080" y="3520440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60320" y="3995927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ALB
whynot-prod-alb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41648" y="2697480"/>
            <a:ext cx="1783080" cy="178308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3F1B22E0-0F15-415C-B511-F550A9AD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4087368" y="2743200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4389120" y="2715768"/>
            <a:ext cx="141732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00" b="0">
                <a:solidFill>
                  <a:srgbClr val="ED7100"/>
                </a:solidFill>
                <a:latin typeface="맑은 고딕"/>
                <a:ea typeface="맑은 고딕"/>
              </a:rPr>
              <a:t>EKS whynot-prod-eks
t3.medium × 2</a:t>
            </a:r>
          </a:p>
        </p:txBody>
      </p:sp>
      <p:pic>
        <p:nvPicPr>
          <p:cNvPr id="34" name="Graphic 79" descr="Container 1 resource icon for the Amazon ECS service.">
            <a:extLst>
              <a:ext uri="{FF2B5EF4-FFF2-40B4-BE49-F238E27FC236}">
                <a16:creationId xmlns:a16="http://schemas.microsoft.com/office/drawing/2014/main" id="{1153087F-1BE2-4F50-AC62-5D2F3E9EA52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709160" y="3127248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142232" y="3474720"/>
            <a:ext cx="14630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00" b="0">
                <a:solidFill>
                  <a:srgbClr val="1B1F24"/>
                </a:solidFill>
                <a:latin typeface="맑은 고딕"/>
                <a:ea typeface="맑은 고딕"/>
              </a:rPr>
              <a:t>frontend ×2 · nginx</a:t>
            </a:r>
          </a:p>
        </p:txBody>
      </p:sp>
      <p:pic>
        <p:nvPicPr>
          <p:cNvPr id="36" name="Graphic 78" descr="Container 2 resource icon for the Amazon ECS service.">
            <a:extLst>
              <a:ext uri="{FF2B5EF4-FFF2-40B4-BE49-F238E27FC236}">
                <a16:creationId xmlns:a16="http://schemas.microsoft.com/office/drawing/2014/main" id="{A9FA6BFC-A173-41FF-9DA5-C1E5C0EA150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709160" y="3749039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142232" y="4096511"/>
            <a:ext cx="14630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00" b="0">
                <a:solidFill>
                  <a:srgbClr val="1B1F24"/>
                </a:solidFill>
                <a:latin typeface="맑은 고딕"/>
                <a:ea typeface="맑은 고딕"/>
              </a:rPr>
              <a:t>app ×2 · Flask·ffmpeg</a:t>
            </a:r>
          </a:p>
        </p:txBody>
      </p:sp>
      <p:pic>
        <p:nvPicPr>
          <p:cNvPr id="38" name="Graphic 23" descr="Amazon Neptune service icon.">
            <a:extLst>
              <a:ext uri="{FF2B5EF4-FFF2-40B4-BE49-F238E27FC236}">
                <a16:creationId xmlns:a16="http://schemas.microsoft.com/office/drawing/2014/main" id="{A1527821-B142-422C-B81F-816028A9B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72200" y="3611880"/>
            <a:ext cx="384048" cy="384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5907024" y="4014215"/>
            <a:ext cx="914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00" b="0">
                <a:solidFill>
                  <a:srgbClr val="1B1F24"/>
                </a:solidFill>
                <a:latin typeface="맑은 고딕"/>
                <a:ea typeface="맑은 고딕"/>
              </a:rPr>
              <a:t>Neptune
whynot-graph-v2</a:t>
            </a:r>
          </a:p>
        </p:txBody>
      </p:sp>
      <p:pic>
        <p:nvPicPr>
          <p:cNvPr id="40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7452360" y="2331720"/>
            <a:ext cx="41148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6835140" y="27614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S3 whynot-089540175779
업로드·계획·영상</a:t>
            </a:r>
          </a:p>
        </p:txBody>
      </p:sp>
      <p:pic>
        <p:nvPicPr>
          <p:cNvPr id="42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52360" y="342900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26580" y="3858768"/>
            <a:ext cx="14630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Bedrock
Claude 4.x (대체용)</a:t>
            </a:r>
          </a:p>
        </p:txBody>
      </p:sp>
      <p:pic>
        <p:nvPicPr>
          <p:cNvPr id="46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4617720" y="5349240"/>
            <a:ext cx="384048" cy="3840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47488" y="5385816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Bedrock
Luma Ray2 · SD3.5</a:t>
            </a:r>
          </a:p>
        </p:txBody>
      </p:sp>
      <p:pic>
        <p:nvPicPr>
          <p:cNvPr id="48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6812280" y="5349240"/>
            <a:ext cx="384048" cy="384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7242048" y="5385816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1B1F24"/>
                </a:solidFill>
                <a:latin typeface="맑은 고딕"/>
                <a:ea typeface="맑은 고딕"/>
              </a:rPr>
              <a:t>S3 영상 버킷
(Luma 출력)</a:t>
            </a:r>
          </a:p>
        </p:txBody>
      </p:sp>
      <p:pic>
        <p:nvPicPr>
          <p:cNvPr id="51" name="Graphic 53" descr="Multimedia resource icon for the General Icons category.">
            <a:extLst>
              <a:ext uri="{FF2B5EF4-FFF2-40B4-BE49-F238E27FC236}">
                <a16:creationId xmlns:a16="http://schemas.microsoft.com/office/drawing/2014/main" id="{57872EAE-9987-42DB-B7E6-3CB6611B881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692640" y="1508760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418319" y="1984248"/>
            <a:ext cx="10058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Seedance
2.0 / 2.5</a:t>
            </a:r>
          </a:p>
        </p:txBody>
      </p:sp>
      <p:pic>
        <p:nvPicPr>
          <p:cNvPr id="53" name="Graphic 50" descr="Image resource icon for the Amazon ECR service.">
            <a:extLst>
              <a:ext uri="{FF2B5EF4-FFF2-40B4-BE49-F238E27FC236}">
                <a16:creationId xmlns:a16="http://schemas.microsoft.com/office/drawing/2014/main" id="{B9A0969C-16F2-475F-8336-55CD7C692D0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927080" y="1508760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652759" y="1984248"/>
            <a:ext cx="10058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Seedream 5.0
Flash / Pro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2606040"/>
            <a:ext cx="2377440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5F6B7A"/>
                </a:solidFill>
                <a:latin typeface="맑은 고딕"/>
                <a:ea typeface="맑은 고딕"/>
              </a:rPr>
              <a:t>영상+소리 · 키 장면 그림
API 키: k8s Secret seedance-api-key</a:t>
            </a:r>
          </a:p>
        </p:txBody>
      </p:sp>
      <p:pic>
        <p:nvPicPr>
          <p:cNvPr id="58" name="Graphic 74" descr="AWS STS resource icon for the IAM service.">
            <a:extLst>
              <a:ext uri="{FF2B5EF4-FFF2-40B4-BE49-F238E27FC236}">
                <a16:creationId xmlns:a16="http://schemas.microsoft.com/office/drawing/2014/main" id="{C200FDA2-66FA-4F9B-905B-1040B8A337E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692640" y="4206240"/>
            <a:ext cx="457200" cy="4572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418319" y="4681727"/>
            <a:ext cx="10058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STS
AssumeRole</a:t>
            </a:r>
          </a:p>
        </p:txBody>
      </p:sp>
      <p:pic>
        <p:nvPicPr>
          <p:cNvPr id="60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10927080" y="4206240"/>
            <a:ext cx="457200" cy="4572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607040" y="4681727"/>
            <a:ext cx="109728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1B1F24"/>
                </a:solidFill>
                <a:latin typeface="맑은 고딕"/>
                <a:ea typeface="맑은 고딕"/>
              </a:rPr>
              <a:t>Bedrock
Claude Fable 5.1
· Opus 5.5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5440680"/>
            <a:ext cx="237744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750" b="0">
                <a:solidFill>
                  <a:srgbClr val="C7252B"/>
                </a:solidFill>
                <a:latin typeface="맑은 고딕"/>
                <a:ea typeface="맑은 고딕"/>
              </a:rPr>
              <a:t>와이낫 계정 5.x 할당량 승인 시
설정 1개로 해제 예정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95528" y="3703320"/>
            <a:ext cx="2112264" cy="45719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68680" y="3438144"/>
            <a:ext cx="7315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232F3E"/>
                </a:solidFill>
                <a:latin typeface="맑은 고딕"/>
                <a:ea typeface="맑은 고딕"/>
              </a:rPr>
              <a:t>HTTPS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658368" y="1783080"/>
            <a:ext cx="649224" cy="1618488"/>
          </a:xfrm>
          <a:prstGeom prst="line">
            <a:avLst/>
          </a:prstGeom>
          <a:ln w="12700">
            <a:solidFill>
              <a:srgbClr val="5F6B7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01568" y="3310128"/>
            <a:ext cx="1289304" cy="347472"/>
          </a:xfrm>
          <a:prstGeom prst="line">
            <a:avLst/>
          </a:prstGeom>
          <a:ln w="158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639312" y="3291840"/>
            <a:ext cx="36576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232F3E"/>
                </a:solidFill>
                <a:latin typeface="맑은 고딕"/>
                <a:ea typeface="맑은 고딕"/>
              </a:rPr>
              <a:t>/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401568" y="3822191"/>
            <a:ext cx="1289304" cy="91441"/>
          </a:xfrm>
          <a:prstGeom prst="line">
            <a:avLst/>
          </a:prstGeom>
          <a:ln w="1587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520440" y="3840480"/>
            <a:ext cx="4572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232F3E"/>
                </a:solidFill>
                <a:latin typeface="맑은 고딕"/>
                <a:ea typeface="맑은 고딕"/>
              </a:rPr>
              <a:t>/api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5056632" y="3813048"/>
            <a:ext cx="1097280" cy="100584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824728" y="2532888"/>
            <a:ext cx="1609344" cy="576072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824728" y="3200400"/>
            <a:ext cx="1609344" cy="429768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4809744" y="4480560"/>
            <a:ext cx="64008" cy="850392"/>
          </a:xfrm>
          <a:prstGeom prst="line">
            <a:avLst/>
          </a:prstGeom>
          <a:ln w="127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3374136" y="2816352"/>
            <a:ext cx="667512" cy="36576"/>
          </a:xfrm>
          <a:prstGeom prst="line">
            <a:avLst/>
          </a:prstGeom>
          <a:ln w="15875">
            <a:solidFill>
              <a:srgbClr val="ED7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374136" y="1828800"/>
            <a:ext cx="6300216" cy="886968"/>
          </a:xfrm>
          <a:prstGeom prst="line">
            <a:avLst/>
          </a:prstGeom>
          <a:ln w="15875">
            <a:solidFill>
              <a:srgbClr val="ED71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086600" y="1764792"/>
            <a:ext cx="21945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ED7100"/>
                </a:solidFill>
                <a:latin typeface="맑은 고딕"/>
                <a:ea typeface="맑은 고딕"/>
              </a:rPr>
              <a:t>외부 호출 (NAT → 인터넷 HTTPS)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824728" y="4389120"/>
            <a:ext cx="3849624" cy="45720"/>
          </a:xfrm>
          <a:prstGeom prst="line">
            <a:avLst/>
          </a:prstGeom>
          <a:ln w="15875">
            <a:solidFill>
              <a:srgbClr val="7D3C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909560" y="4434840"/>
            <a:ext cx="12801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7D3CD8"/>
                </a:solidFill>
                <a:latin typeface="맑은 고딕"/>
                <a:ea typeface="맑은 고딕"/>
              </a:rPr>
              <a:t>교차 계정 역할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5. 개발 환경 · 배포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운영은 통합계정 GitLab CI가 빌드해 수동 승인 잡으로 배포한다. 개발은 고객 계정 안의 GitLab + ArgoCD(GitOps)로 자동 반영된다.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30000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486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ED7100"/>
                </a:solidFill>
                <a:latin typeface="맑은 고딕"/>
                <a:ea typeface="맑은 고딕"/>
              </a:rPr>
              <a:t>운영 배포 (Production)</a:t>
            </a:r>
          </a:p>
        </p:txBody>
      </p:sp>
      <p:pic>
        <p:nvPicPr>
          <p:cNvPr id="9" name="Graphic 24" descr="Source code resource icon for the General Icons category.">
            <a:extLst>
              <a:ext uri="{FF2B5EF4-FFF2-40B4-BE49-F238E27FC236}">
                <a16:creationId xmlns:a16="http://schemas.microsoft.com/office/drawing/2014/main" id="{FDB40F7A-AD41-40D0-875E-D5057C387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77240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28599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개발자
MR → main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80744" y="2011680"/>
            <a:ext cx="1216152" cy="0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4" descr="Git repository resource icon for the General Icons category.">
            <a:extLst>
              <a:ext uri="{FF2B5EF4-FFF2-40B4-BE49-F238E27FC236}">
                <a16:creationId xmlns:a16="http://schemas.microsoft.com/office/drawing/2014/main" id="{B6A65595-7901-44F4-8079-558F17B5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651760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103120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통합계정 GitLab
awstech/ai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55264" y="2011680"/>
            <a:ext cx="1216152" cy="0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5" descr="Gear resource icon for the General Icons category.">
            <a:extLst>
              <a:ext uri="{FF2B5EF4-FFF2-40B4-BE49-F238E27FC236}">
                <a16:creationId xmlns:a16="http://schemas.microsoft.com/office/drawing/2014/main" id="{AE1576A8-8CB6-47F8-A8FA-6D23E6ED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526279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977639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CI: check:whynot
→ build (kaniko)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9783" y="2011680"/>
            <a:ext cx="1216153" cy="0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830BF274-AB1A-45A6-9068-E4D1AD05C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400799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5852159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통합계정 ECR
whynot-app/frontend
ci-&lt;sha&gt;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04303" y="2011680"/>
            <a:ext cx="1216152" cy="0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2" descr="User resource icon for the General Icons category.">
            <a:extLst>
              <a:ext uri="{FF2B5EF4-FFF2-40B4-BE49-F238E27FC236}">
                <a16:creationId xmlns:a16="http://schemas.microsoft.com/office/drawing/2014/main" id="{D3FCDB7F-683E-4484-95A8-98DE76742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8275319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7726679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deploy:whynot:prod
(수동 승인)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2011680"/>
            <a:ext cx="1216152" cy="0"/>
          </a:xfrm>
          <a:prstGeom prst="line">
            <a:avLst/>
          </a:prstGeom>
          <a:ln w="22225">
            <a:solidFill>
              <a:srgbClr val="232F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3F1B22E0-0F15-415C-B511-F550A9AD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0149840" y="173736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9601200" y="2304288"/>
            <a:ext cx="16459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whynot-prod-eks
whynot 네임스페이스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566160"/>
            <a:ext cx="114300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639312"/>
            <a:ext cx="5486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17E6B"/>
                </a:solidFill>
                <a:latin typeface="맑은 고딕"/>
                <a:ea typeface="맑은 고딕"/>
              </a:rPr>
              <a:t>개발 환경 (Dev) — 고객 계정 안에서 완결</a:t>
            </a:r>
          </a:p>
        </p:txBody>
      </p:sp>
      <p:pic>
        <p:nvPicPr>
          <p:cNvPr id="28" name="Graphic 24" descr="Source code resource icon for the General Icons category.">
            <a:extLst>
              <a:ext uri="{FF2B5EF4-FFF2-40B4-BE49-F238E27FC236}">
                <a16:creationId xmlns:a16="http://schemas.microsoft.com/office/drawing/2014/main" id="{FDB40F7A-AD41-40D0-875E-D5057C387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77240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05739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통합계정 main 반영본
(GitLab API 동기화)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80744" y="4389120"/>
            <a:ext cx="1216152" cy="0"/>
          </a:xfrm>
          <a:prstGeom prst="line">
            <a:avLst/>
          </a:prstGeom>
          <a:ln w="22225">
            <a:solidFill>
              <a:srgbClr val="017E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5" descr="Amazon Elastic Compute Cloud (Amazon EC2) service icon.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2651760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2080259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고객 GitLab (EC2)
gitlab-whynot
awstech/ai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55264" y="4389120"/>
            <a:ext cx="1216152" cy="0"/>
          </a:xfrm>
          <a:prstGeom prst="line">
            <a:avLst/>
          </a:prstGeom>
          <a:ln w="22225">
            <a:solidFill>
              <a:srgbClr val="017E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Graphic 15" descr="Gear resource icon for the General Icons category.">
            <a:extLst>
              <a:ext uri="{FF2B5EF4-FFF2-40B4-BE49-F238E27FC236}">
                <a16:creationId xmlns:a16="http://schemas.microsoft.com/office/drawing/2014/main" id="{AE1576A8-8CB6-47F8-A8FA-6D23E6ED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526279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3954779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GitLab CI
이미지 빌드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29783" y="4389120"/>
            <a:ext cx="1216153" cy="0"/>
          </a:xfrm>
          <a:prstGeom prst="line">
            <a:avLst/>
          </a:prstGeom>
          <a:ln w="22225">
            <a:solidFill>
              <a:srgbClr val="017E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830BF274-AB1A-45A6-9068-E4D1AD05C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400799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5829299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고객 ECR
whynot-dev-app
whynot-dev-frontend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04303" y="4389120"/>
            <a:ext cx="1216152" cy="0"/>
          </a:xfrm>
          <a:prstGeom prst="line">
            <a:avLst/>
          </a:prstGeom>
          <a:ln w="22225">
            <a:solidFill>
              <a:srgbClr val="017E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aphic 14" descr="Git repository resource icon for the General Icons category.">
            <a:extLst>
              <a:ext uri="{FF2B5EF4-FFF2-40B4-BE49-F238E27FC236}">
                <a16:creationId xmlns:a16="http://schemas.microsoft.com/office/drawing/2014/main" id="{B6A65595-7901-44F4-8079-558F17B5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275319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703819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awstech/ai-deploy
whynot/dev/*.yaml
(태그 갱신)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78824" y="4389120"/>
            <a:ext cx="1216152" cy="0"/>
          </a:xfrm>
          <a:prstGeom prst="line">
            <a:avLst/>
          </a:prstGeom>
          <a:ln w="22225">
            <a:solidFill>
              <a:srgbClr val="017E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3F1B22E0-0F15-415C-B511-F550A9AD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0149840" y="4114800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9578340" y="4681727"/>
            <a:ext cx="1691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50" b="0">
                <a:solidFill>
                  <a:srgbClr val="1B1F24"/>
                </a:solidFill>
                <a:latin typeface="맑은 고딕"/>
                <a:ea typeface="맑은 고딕"/>
              </a:rPr>
              <a:t>ArgoCD (selfHeal)
→ whynot-dev-eks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440680"/>
            <a:ext cx="1115568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• 개발: dev-whynot.meta-clouds.com · VPC 100.20.16.0/20 · EKS whynot-dev-eks (t3.medium ×2) · Neptune whynot-dev-graph · S3 whynot-dev-089540175779 / whynot-dev-video-…-usw2</a:t>
            </a:r>
          </a:p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• 고객 GitLab · ArgoCD 는 IP 허용 목록(ALB 보안 규칙)으로 보호. 개발에서만 ② 영상 모델 선택(VPOC_MODEL_PICKER_ENABLED) 등 시험 기능을 먼저 켠다.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6. AI 모델 · 데이터 저장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486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  <a:latin typeface="맑은 고딕"/>
                <a:ea typeface="맑은 고딕"/>
              </a:rPr>
              <a:t>외부 AI 모델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61872"/>
          <a:ext cx="114300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265176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제공 위치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쓰는 단계</a:t>
                      </a:r>
                    </a:p>
                  </a:txBody>
                  <a:tcPr marL="54864" marR="54864" marT="27432" marB="27432"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웹툰 분석 · 콘티 · 장면 설명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Claude Fable 5.1 → Opus 5.5 → Opus 4.6 → Sonnet 4.6/4.5 (자동 대체)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Bedrock (5.x는 와이랩 임시)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① 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키 장면 러프 / 완성 그림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Seedream 5.0 Flash / Pro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BytePlus ModelArk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인물 그림 (실사·애니)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Stable Diffusion 3.5 Large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Bedrock us-west-2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인물 그림 (웹툰 원작 그대로)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Seedream 5.0 Pro (웹툰 컷 참고)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BytePlus ModelArk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영상 + 소리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Seedance 2.0 / 2.5 (4~15초, 첫·끝 프레임)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BytePlus ModelArk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영상 (기존 경로)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Luma Ray2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Bedrock us-west-2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F24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840480"/>
            <a:ext cx="5486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  <a:latin typeface="맑은 고딕"/>
                <a:ea typeface="맑은 고딕"/>
              </a:rPr>
              <a:t>데이터 저장 위치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Graphic 23" descr="Amazon Neptune service icon.">
            <a:extLst>
              <a:ext uri="{FF2B5EF4-FFF2-40B4-BE49-F238E27FC236}">
                <a16:creationId xmlns:a16="http://schemas.microsoft.com/office/drawing/2014/main" id="{A1527821-B142-422C-B81F-816028A9B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502920" y="434340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15568" y="4389120"/>
            <a:ext cx="2834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맑은 고딕"/>
                <a:ea typeface="맑은 고딕"/>
              </a:rPr>
              <a:t>Neptune (그래프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800600"/>
            <a:ext cx="2834640" cy="1554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사용자 · 권한 · 프로젝트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사용량 · 한도 ·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2062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4343400" y="434340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56048" y="4389120"/>
            <a:ext cx="2834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맑은 고딕"/>
                <a:ea typeface="맑은 고딕"/>
              </a:rPr>
              <a:t>S3 users/{u}/video/{p}/vpoc1/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4800600"/>
            <a:ext cx="2834640" cy="1554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uploads/  웹툰 원본(정규화 JPG)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characters/  인물 그림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plans/{id}/state.json  단계 상태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plans/{id}/keyframes/  키 장면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plans/{id}/final.mp4  최종 영상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2062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Graphic 17" descr="AWS Secrets Manager service icon.">
            <a:extLst>
              <a:ext uri="{FF2B5EF4-FFF2-40B4-BE49-F238E27FC236}">
                <a16:creationId xmlns:a16="http://schemas.microsoft.com/office/drawing/2014/main" id="{A12EE907-E763-44C1-A13C-D9B87F6A1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183880" y="4343400"/>
            <a:ext cx="50292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8796528" y="4389120"/>
            <a:ext cx="2834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맑은 고딕"/>
                <a:ea typeface="맑은 고딕"/>
              </a:rPr>
              <a:t>Secrets Manager → k8s Secret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4800600"/>
            <a:ext cx="2834640" cy="1554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BytePlus ARK API 키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• 앱 인증 서명 키 (값은 문서화하지 않음)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7-1. 코드 구조 — 리포 최상위 (AI-POC-whynot/)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GitLab awstech/ai 의 AI-POC-whynot 폴더 = 와이낫 전용 코드. 압축본(zip)도 이 구조 그대로다.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AI-POC-whynot/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572768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백엔드 — Python 3 · Flask + gunicorn · Dockerfile(ffmpeg 포함) ·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56816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│  └─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56816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server.py 진입점 · vpoc/(현재 영상 기능) · vpoc2/(실험) · roles/(문서 생성 역할)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40864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frontend/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40864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화면 — 정적 HTML/JS/CSS, 빌드 없이 nginx 로 서빙 · nginx.conf(보안 헤더·CSP)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24912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│  └─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public/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24912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index.html · app.js(공통) · vpoc.js(영상 ①~④) · vpoc2.js · assets · fonts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08960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k8s/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쿠버네티스 매니페스트 템플릿 — workloads · ingress(ALB) · service-account(IRSA)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93008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deploy/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493008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render.py(config.env + *.tmpl → 매니페스트) · deploy/backup/schedules.ps1 · verify/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77056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infra/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77056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앱 역할 S3·Bedrock 정책 · IRSA 신뢰 정책 · S3 암호화/수명주기 · 점검 스크립트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61104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terraform/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61104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bootstrap · hub(20-eks-prod · 25-app-iam · 26-neptune · 40-video-gpu) ·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45152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tools/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645152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check_vpoc.py(CI 검사기) · vpoc_e2e.py(E2E) · vpoc_preflight.py(사전 점검)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29200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k8s-gpu/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029200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자체 GPU 영상 워커 매니페스트 — 현재 미사용(보존)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13248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200" b="1">
                <a:solidFill>
                  <a:srgbClr val="146EB4"/>
                </a:solidFill>
                <a:latin typeface="Consolas"/>
                <a:ea typeface="맑은 고딕"/>
              </a:rPr>
              <a:t>video-worker/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413248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Wan 2.2 GPU 워커(SQS 폴링) — 현재 미사용(보존)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797296"/>
            <a:ext cx="31089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200" b="1">
                <a:solidFill>
                  <a:srgbClr val="232F3E"/>
                </a:solidFill>
                <a:latin typeface="Consolas"/>
                <a:ea typeface="맑은 고딕"/>
              </a:rPr>
              <a:t>README.md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797296"/>
            <a:ext cx="81381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구성 · 시작하기 · 알려진 제약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7-2. 코드 구조 — 백엔드 app/src/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server.py 가 진입점. Bedrock 호출은 gateway.py 한 곳으로 모으고, 영상 기능은 vpoc/ 블루프린트(/api/vpoc)로 분리.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2356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62356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app/src/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6362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156362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Flask 진입점 · 로그인(7일 유지) · 프로젝트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1618488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94959" y="1618488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5681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gateway.py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195681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Bedrock 호출 단일 통로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50008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graph_store.py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2350008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Neptune 접근 계층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account_guard.py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743200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다른 계정이면 전부 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36391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stitcher.py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136391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ffmpeg 이어붙이기 · 무음 맞춤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59" y="3191256"/>
            <a:ext cx="566928" cy="283464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94959" y="3191256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958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documents.py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52958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기획 문서 생성 (분석·각색)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2277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model_registry.py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392277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모델 카탈로그 (계층형)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model_capabilities.py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39" y="4315968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모델 수명주기 · 가격 근거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09160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providers.py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4709160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생성 요청 → Bedrock 페이로드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02352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styles.py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9" y="5102352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그림체 프리셋 · 모델 라우팅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9554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project_tracks.py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39" y="5495544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와이낫 프로젝트 트랙 라우트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88873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pdf_export.py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9" y="5888736"/>
            <a:ext cx="251460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콘티표 · 대본 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170432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app/src/ (계속)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563624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vpoc/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563624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★ 현재 영상 기능 ①~④ → 다음 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55680" y="1618488"/>
            <a:ext cx="566928" cy="283464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155680" y="1618488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1956816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vpoc2/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1956816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15초 영상 실험 (명령→리뷰)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350008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roles/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350008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vision · bible · writer · validator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743200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story_router.py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2743200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역할 분배 (코드, LLM 아님)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136391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story_models.py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136391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역할 → 모델 매핑표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529584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prompts_story.py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529584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역할별 system 프롬프트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922776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prompt_layers.py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3922776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프롬프트 두 계층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315968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prompt_boost.py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315968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짧은 설명 → 자세한 설명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709160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image_brief.py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709160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참고 이미지 역할 판단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102352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toon_convert.py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5102352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웹툰 컷 화풍 변환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495544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video_prompt.py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495544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영상 프롬프트 조립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888736"/>
            <a:ext cx="23774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fixtures/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5888736"/>
            <a:ext cx="26060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목(mock) 응답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7-3. 코드 구조 — 영상 모듈 app/src/vpoc/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화면 ①~④ 의 서버 쪽 전부. routes.py 가 단계와 백그라운드 스레드를 조율하고, 모델마다 클라이언트 파일이 따로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690372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app/src/vpoc/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63624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routes.py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63624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①~④ API · 백그라운드 준비/제출 · ④ 드라이버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79" y="1618488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79" y="1618488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56816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llm.py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56816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Claude 분석 · 콘티 · 장면 설명 · 모델 자동 대체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79" y="2011680"/>
            <a:ext cx="566928" cy="283464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79" y="2011680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50008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images.py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350008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업로드 정규화 · 분석 타일 · SD3.5 인물 그림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2404872"/>
            <a:ext cx="566928" cy="283464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79" y="2404872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743200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compose.py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743200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영어 프롬프트 · 화풍 · 안전 문구 (모델 호출 없음)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79" y="2798064"/>
            <a:ext cx="566928" cy="283464"/>
          </a:xfrm>
          <a:prstGeom prst="roundRect">
            <a:avLst>
              <a:gd name="adj" fmla="val 8000"/>
            </a:avLst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79" y="2798064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36391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seedream.py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136391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Seedream 키 장면 그림 · 필터 재시도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79" y="3191256"/>
            <a:ext cx="566928" cy="283464"/>
          </a:xfrm>
          <a:prstGeom prst="roundRect">
            <a:avLst>
              <a:gd name="adj" fmla="val 8000"/>
            </a:avLst>
          </a:prstGeom>
          <a:solidFill>
            <a:srgbClr val="7D3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79" y="3191256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529584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ark.py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529584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Seedance 제출/조회 · 첫/끝 프레임 · 소리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79" y="3584448"/>
            <a:ext cx="566928" cy="283464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79" y="3584448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22776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video.py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922776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Luma Ray2 (Bedrock 비동기) 경로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79" y="3977639"/>
            <a:ext cx="566928" cy="283464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79" y="3977639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15968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regen.py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315968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④ 이 샷만 의견 반영해 다시 만들기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79" y="4370831"/>
            <a:ext cx="566928" cy="283464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83679" y="4370831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709160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store.py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709160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S3 키 규칙 · state.json 읽기/쓰기(잠금)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79" y="4764024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79" y="4764024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102352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ledger.py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102352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비용 원장 (관리자 화면 집계)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79" y="5157216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79" y="5157216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495544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settings.py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495544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모든 설정값 (환경변수 → ConfigMap)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79" y="5550407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83679" y="5550407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888736"/>
            <a:ext cx="178308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errors.py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5888736"/>
            <a:ext cx="4434840" cy="3931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오류 봉투 · 사용자에게 보일 오류 종류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79" y="5943600"/>
            <a:ext cx="566928" cy="283464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583679" y="5943600"/>
            <a:ext cx="566928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79" y="1143000"/>
            <a:ext cx="42976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맑은 고딕"/>
                <a:ea typeface="맑은 고딕"/>
              </a:rPr>
              <a:t>routes.py 가 부르는 외부 대상</a:t>
            </a:r>
          </a:p>
        </p:txBody>
      </p:sp>
      <p:pic>
        <p:nvPicPr>
          <p:cNvPr id="58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43800" y="1600200"/>
            <a:ext cx="457200" cy="4572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138160" y="1581912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llm.py → Bedrock Claude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1847088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분석 · 콘티 · 장면 설명</a:t>
            </a:r>
          </a:p>
        </p:txBody>
      </p:sp>
      <p:pic>
        <p:nvPicPr>
          <p:cNvPr id="61" name="Graphic 50" descr="Image resource icon for the Amazon ECR service.">
            <a:extLst>
              <a:ext uri="{FF2B5EF4-FFF2-40B4-BE49-F238E27FC236}">
                <a16:creationId xmlns:a16="http://schemas.microsoft.com/office/drawing/2014/main" id="{B9A0969C-16F2-475F-8336-55CD7C692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0" y="2386584"/>
            <a:ext cx="457200" cy="4572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138160" y="2368296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seedream.py → BytePlus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2633472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러프 / 완성 키 장면</a:t>
            </a:r>
          </a:p>
        </p:txBody>
      </p:sp>
      <p:pic>
        <p:nvPicPr>
          <p:cNvPr id="64" name="Graphic 53" descr="Multimedia resource icon for the General Icons category.">
            <a:extLst>
              <a:ext uri="{FF2B5EF4-FFF2-40B4-BE49-F238E27FC236}">
                <a16:creationId xmlns:a16="http://schemas.microsoft.com/office/drawing/2014/main" id="{57872EAE-9987-42DB-B7E6-3CB6611B88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3800" y="3172968"/>
            <a:ext cx="457200" cy="4572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138160" y="3154679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ark.py → BytePlus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3419856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Seedance 구간 영상 + 소리</a:t>
            </a:r>
          </a:p>
        </p:txBody>
      </p:sp>
      <p:pic>
        <p:nvPicPr>
          <p:cNvPr id="67" name="Graphic 6" descr="Amazon Bedrock service icon.">
            <a:extLst>
              <a:ext uri="{FF2B5EF4-FFF2-40B4-BE49-F238E27FC236}">
                <a16:creationId xmlns:a16="http://schemas.microsoft.com/office/drawing/2014/main" id="{4C0A08BC-11C8-B713-FE48-853A93E03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43800" y="3959352"/>
            <a:ext cx="457200" cy="4572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138160" y="3941064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images.py · video.py → Bedrock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SD3.5 인물 · Luma Ray2</a:t>
            </a:r>
          </a:p>
        </p:txBody>
      </p:sp>
      <p:pic>
        <p:nvPicPr>
          <p:cNvPr id="70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A6B4D-DEE3-46F9-B451-2A59ED89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543800" y="47457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extBox 70"/>
          <p:cNvSpPr txBox="1"/>
          <p:nvPr/>
        </p:nvSpPr>
        <p:spPr>
          <a:xfrm>
            <a:off x="8138160" y="4727448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store.py → S3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992623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state.json · 이미지 · 영상</a:t>
            </a:r>
          </a:p>
        </p:txBody>
      </p:sp>
      <p:pic>
        <p:nvPicPr>
          <p:cNvPr id="73" name="Graphic 15" descr="Gear resource icon for the General Icons category.">
            <a:extLst>
              <a:ext uri="{FF2B5EF4-FFF2-40B4-BE49-F238E27FC236}">
                <a16:creationId xmlns:a16="http://schemas.microsoft.com/office/drawing/2014/main" id="{AE1576A8-8CB6-47F8-A8FA-6D23E6ED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7543800" y="553212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/>
          <p:cNvSpPr txBox="1"/>
          <p:nvPr/>
        </p:nvSpPr>
        <p:spPr>
          <a:xfrm>
            <a:off x="8138160" y="5513832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맑은 고딕"/>
                <a:ea typeface="맑은 고딕"/>
              </a:rPr>
              <a:t>stitcher.py → ffmpeg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779008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맑은 고딕"/>
                <a:ea typeface="맑은 고딕"/>
              </a:rPr>
              <a:t>구간 영상 이어 붙이기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7-4. 코드 구조 — 화면 · 배포 ·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frontend/public 은 빌드 없이 nginx 로 서빙. deploy/render.py 가 config.env + *.tmpl 로 쿠버네티스 매니페스트를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2356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623560" cy="5257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frontend/public/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58191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앱 셸 · 로그인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app.js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9339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공통 (로그인 · 프로젝트 · 화면 복원)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0487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vpoc.js / vpoc.css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0487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★ 영상 ①~④ 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1635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vpoc2.html/js/css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1635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15초 영상 실험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2783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runtime-config.js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2783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기능 스위치 (ConfigMap 이 덮어씀)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3931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styles.css · assets/ · fonts/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6227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k8s/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7375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workloads.yaml.tmpl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7375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frontend · app Deployment/Service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8523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ingress.yaml.tmpl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28523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ALB · /api → app, / →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96712"/>
            <a:ext cx="26060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service-account.yaml.tmpl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696712"/>
            <a:ext cx="283464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IRSA 역할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17043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deploy/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58191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render.py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158191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config.env + *.tmpl → 매니페스트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99339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deploy.ps1 · preflight.ps1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99339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배포 · 사전 점검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40487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start/stop-all · schedules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0487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기동 · 중지 스케줄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81635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config.env.example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81635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설정 예시 (실값 파일 제외)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22783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verify/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2783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API · 화면 · 권한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050791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infra/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6227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├─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app-*-policy.json.tmpl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46227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앱 역할 S3 · Bedrock 권한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87375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irsa-trust-policy.json.tmpl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87375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IRSA 신뢰 정책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28523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/>
            </a:r>
            <a:r>
              <a:rPr sz="1050" b="1">
                <a:solidFill>
                  <a:srgbClr val="146EB4"/>
                </a:solidFill>
                <a:latin typeface="Consolas"/>
                <a:ea typeface="맑은 고딕"/>
              </a:rPr>
              <a:t>terraform/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696712"/>
            <a:ext cx="269748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Consolas"/>
                <a:ea typeface="맑은 고딕"/>
              </a:rPr>
              <a:t>└─ </a:t>
            </a:r>
            <a:r>
              <a:rPr sz="1050" b="1">
                <a:solidFill>
                  <a:srgbClr val="232F3E"/>
                </a:solidFill>
                <a:latin typeface="Consolas"/>
                <a:ea typeface="맑은 고딕"/>
              </a:rPr>
              <a:t>bootstrap · hub · modules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696712"/>
            <a:ext cx="2743200" cy="4114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1B1F24"/>
                </a:solidFill>
                <a:latin typeface="맑은 고딕"/>
                <a:ea typeface="맑은 고딕"/>
              </a:rPr>
              <a:t>EKS · IAM · Neptune IaC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3385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맑은 고딕"/>
                <a:ea typeface="맑은 고딕"/>
              </a:rPr>
              <a:t>8. 코드 압축본 (GitHub 업로드용)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11338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맑은 고딕"/>
                <a:ea typeface="맑은 고딕"/>
              </a:rPr>
              <a:t>whynot-code-56f9c57.zip · 파일 191개 · 6.4MB — 운영 배포본과 같은 커밋(통합계정 main 56f9c57)의 AI-POC-whynot 폴더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와이낫 웹툰 → 영상 AI · 시스템 구성도 · 2026-10-15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57784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577840" cy="384048"/>
          </a:xfrm>
          <a:prstGeom prst="roundRect">
            <a:avLst>
              <a:gd name="adj" fmla="val 8000"/>
            </a:avLst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577840" cy="155448"/>
          </a:xfrm>
          <a:prstGeom prst="rect">
            <a:avLst/>
          </a:prstGeom>
          <a:solidFill>
            <a:srgbClr val="01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225296"/>
            <a:ext cx="5394959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포함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45920"/>
            <a:ext cx="5358383" cy="32461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app/  백엔드 전체 (vpoc · vpoc2 · roles · server)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frontend/  화면 전체 (HTML · JS · CSS · nginx)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k8s/ · k8s-gpu/  매니페스트 템플릿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deploy/  스크립트 (config.env.example 만)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infra/  정책 템플릿 · 점검 스크립트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terraform/  IaC (*.tfvars.example 만)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tools/ · video-worker/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README.md · .gitignore · .dockerignore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CODE_TREE.md  (이 문서의 코드 트리 요약)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62356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172200" y="1188720"/>
            <a:ext cx="5623560" cy="384048"/>
          </a:xfrm>
          <a:prstGeom prst="roundRect">
            <a:avLst>
              <a:gd name="adj" fmla="val 8000"/>
            </a:avLst>
          </a:prstGeom>
          <a:solidFill>
            <a:srgbClr val="C7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623560" cy="155448"/>
          </a:xfrm>
          <a:prstGeom prst="rect">
            <a:avLst/>
          </a:prstGeom>
          <a:solidFill>
            <a:srgbClr val="C7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1225296"/>
            <a:ext cx="544068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제외 · 업로드 전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645920"/>
            <a:ext cx="5404104" cy="32461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deploy/config.dev.env · config.prod.env  (실제 계정·엔드포인트 값)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infra/inventory/  (계정 자원 스냅샷 100개)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docs/  (내부 작업 기록 · 실행 로그)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CLAUDE.md  (작업 지침)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.gitignore 에 위 설정 파일 패턴을 추가해 다시 올라가지 않게 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• 비밀값(API 키·비밀번호·토큰) 패턴 검사 — 발견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20640"/>
            <a:ext cx="11430000" cy="1188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9D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212080"/>
            <a:ext cx="109728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252B"/>
                </a:solidFill>
                <a:latin typeface="맑은 고딕"/>
                <a:ea typeface="맑은 고딕"/>
              </a:rPr>
              <a:t>⚠ 업로드 전 확인  </a:t>
            </a: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코드 주석 · 설정 기본값에 AWS 계정 ID(통합계정 · 와이랩 등) · 내부 도메인 · 버킷 이름이 남아 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   예: vpoc/settings.py 의 와이랩 역할 ARN, frontend/nginx.conf 의 버킷 주소, README 의 이관 기록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4"/>
                </a:solidFill>
                <a:latin typeface="맑은 고딕"/>
                <a:ea typeface="맑은 고딕"/>
              </a:rPr>
              <a:t>   → GitHub 는 비공개(Private) 저장소로 올리는 것을 권장. 공개가 필요하면 별도 정리 작업이 필요하다.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ight-Background-Master">
  <a:themeElements>
    <a:clrScheme name="Architecture Icons Light Background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ED7100"/>
      </a:accent1>
      <a:accent2>
        <a:srgbClr val="037F0C"/>
      </a:accent2>
      <a:accent3>
        <a:srgbClr val="D91515"/>
      </a:accent3>
      <a:accent4>
        <a:srgbClr val="F2F3F3"/>
      </a:accent4>
      <a:accent5>
        <a:srgbClr val="D5DBDB"/>
      </a:accent5>
      <a:accent6>
        <a:srgbClr val="0971D3"/>
      </a:accent6>
      <a:hlink>
        <a:srgbClr val="0971D3"/>
      </a:hlink>
      <a:folHlink>
        <a:srgbClr val="0971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rk-Background-Master">
  <a:themeElements>
    <a:clrScheme name="Architecture Icons Dark Background">
      <a:dk1>
        <a:srgbClr val="000000"/>
      </a:dk1>
      <a:lt1>
        <a:srgbClr val="FFFFFF"/>
      </a:lt1>
      <a:dk2>
        <a:srgbClr val="232F3E"/>
      </a:dk2>
      <a:lt2>
        <a:srgbClr val="E7E6E6"/>
      </a:lt2>
      <a:accent1>
        <a:srgbClr val="FF9900"/>
      </a:accent1>
      <a:accent2>
        <a:srgbClr val="28AD32"/>
      </a:accent2>
      <a:accent3>
        <a:srgbClr val="EB6F6F"/>
      </a:accent3>
      <a:accent4>
        <a:srgbClr val="A5A5A5"/>
      </a:accent4>
      <a:accent5>
        <a:srgbClr val="D1D5DB"/>
      </a:accent5>
      <a:accent6>
        <a:srgbClr val="539FE5"/>
      </a:accent6>
      <a:hlink>
        <a:srgbClr val="539FE5"/>
      </a:hlink>
      <a:folHlink>
        <a:srgbClr val="539F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160030</TotalTime>
  <Words>7401</Words>
  <Application>Microsoft Office PowerPoint</Application>
  <PresentationFormat>와이드스크린</PresentationFormat>
  <Paragraphs>1649</Paragraphs>
  <Slides>154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154</vt:i4>
      </vt:variant>
    </vt:vector>
  </HeadingPairs>
  <TitlesOfParts>
    <vt:vector size="160" baseType="lpstr">
      <vt:lpstr>Helvetica Neue</vt:lpstr>
      <vt:lpstr>Arial</vt:lpstr>
      <vt:lpstr>Calibri</vt:lpstr>
      <vt:lpstr>Calibri Light</vt:lpstr>
      <vt:lpstr>Light-Background-Master</vt:lpstr>
      <vt:lpstr>Dark-Background-Master</vt:lpstr>
      <vt:lpstr>AWS Architecture Icons</vt:lpstr>
      <vt:lpstr>Release 19-2024.06.07: What’s New? 1/1</vt:lpstr>
      <vt:lpstr>Contents</vt:lpstr>
      <vt:lpstr>Introduction</vt:lpstr>
      <vt:lpstr>About AWS Architecture Icons</vt:lpstr>
      <vt:lpstr>Before You Begin:</vt:lpstr>
      <vt:lpstr>System</vt:lpstr>
      <vt:lpstr>System Elements 1/2</vt:lpstr>
      <vt:lpstr>System Elements 2/2</vt:lpstr>
      <vt:lpstr>Guidelines</vt:lpstr>
      <vt:lpstr>Building a Diagram</vt:lpstr>
      <vt:lpstr>Guidance for Portrait View Use Case</vt:lpstr>
      <vt:lpstr>Guidance for Training and Certification Use Case</vt:lpstr>
      <vt:lpstr>Groups</vt:lpstr>
      <vt:lpstr>Icons</vt:lpstr>
      <vt:lpstr>Arrows</vt:lpstr>
      <vt:lpstr>Icon Labels</vt:lpstr>
      <vt:lpstr>Numbered Callouts</vt:lpstr>
      <vt:lpstr>Examples</vt:lpstr>
      <vt:lpstr>Example: Git to S3 Webhooks</vt:lpstr>
      <vt:lpstr>Example: Chef Automate Architecture on AWS</vt:lpstr>
      <vt:lpstr>Elements</vt:lpstr>
      <vt:lpstr>Icon Categories</vt:lpstr>
      <vt:lpstr>General Resources</vt:lpstr>
      <vt:lpstr>Groups 1/5</vt:lpstr>
      <vt:lpstr>Create a Custom Group for a Service 2/5</vt:lpstr>
      <vt:lpstr>Arrows 3/5</vt:lpstr>
      <vt:lpstr>General Icons 4/5</vt:lpstr>
      <vt:lpstr>General Icons 5/5</vt:lpstr>
      <vt:lpstr>Analytics</vt:lpstr>
      <vt:lpstr>Analytics 1/6</vt:lpstr>
      <vt:lpstr>Analytics 2/6</vt:lpstr>
      <vt:lpstr>Analytics 3/6</vt:lpstr>
      <vt:lpstr>Analytics 4/6</vt:lpstr>
      <vt:lpstr>Analytics 5/6</vt:lpstr>
      <vt:lpstr>Analytics 6/6</vt:lpstr>
      <vt:lpstr>Application Integration</vt:lpstr>
      <vt:lpstr>Application Integration 1/3</vt:lpstr>
      <vt:lpstr>Application Integration 2/3</vt:lpstr>
      <vt:lpstr>Application Integration 3/3</vt:lpstr>
      <vt:lpstr>Artificial Intelligence</vt:lpstr>
      <vt:lpstr>Artificial Intelligence 1/10</vt:lpstr>
      <vt:lpstr>Artificial Intelligence 2/10</vt:lpstr>
      <vt:lpstr>Artificial Intelligence 3/10</vt:lpstr>
      <vt:lpstr>Artificial Intelligence 4/10</vt:lpstr>
      <vt:lpstr>Artificial Intelligence 5/10</vt:lpstr>
      <vt:lpstr>Artificial Intelligence 6/10</vt:lpstr>
      <vt:lpstr>Artificial Intelligence 7/10</vt:lpstr>
      <vt:lpstr>Artificial Intelligence 8/10</vt:lpstr>
      <vt:lpstr>Artificial Intelligence 9/10</vt:lpstr>
      <vt:lpstr>Artificial Intelligence 10/10</vt:lpstr>
      <vt:lpstr>Blockchain</vt:lpstr>
      <vt:lpstr>Blockchain 1/1</vt:lpstr>
      <vt:lpstr>Business Applications</vt:lpstr>
      <vt:lpstr>Business Applications 1/4</vt:lpstr>
      <vt:lpstr>Business Applications 2/4</vt:lpstr>
      <vt:lpstr>Business Applications 3/4</vt:lpstr>
      <vt:lpstr>Business Applications 4/4</vt:lpstr>
      <vt:lpstr>Cloud Financial Management</vt:lpstr>
      <vt:lpstr>Cloud Financial Management 1/2</vt:lpstr>
      <vt:lpstr>Cloud Financial Management 2/2</vt:lpstr>
      <vt:lpstr>Compute</vt:lpstr>
      <vt:lpstr>Compute 1/7</vt:lpstr>
      <vt:lpstr>Compute 2/7</vt:lpstr>
      <vt:lpstr>Compute 3/7</vt:lpstr>
      <vt:lpstr>Compute 4/7</vt:lpstr>
      <vt:lpstr>Compute 5/7</vt:lpstr>
      <vt:lpstr>Compute 6/7</vt:lpstr>
      <vt:lpstr>Compute 7/7</vt:lpstr>
      <vt:lpstr>Contact Center</vt:lpstr>
      <vt:lpstr>Contact Center  1/1</vt:lpstr>
      <vt:lpstr>Containers</vt:lpstr>
      <vt:lpstr>Containers 1/3</vt:lpstr>
      <vt:lpstr>Containers 2/3</vt:lpstr>
      <vt:lpstr>Containers  3/3</vt:lpstr>
      <vt:lpstr>Customer  Enablement</vt:lpstr>
      <vt:lpstr>Customer Enablement  1/2</vt:lpstr>
      <vt:lpstr>Customer Enablement 2/2</vt:lpstr>
      <vt:lpstr>Database</vt:lpstr>
      <vt:lpstr>Database 1/5</vt:lpstr>
      <vt:lpstr>Database 2/5</vt:lpstr>
      <vt:lpstr>Database 3/5</vt:lpstr>
      <vt:lpstr>Database 4/5</vt:lpstr>
      <vt:lpstr>Database 5/5</vt:lpstr>
      <vt:lpstr>Developer Tools</vt:lpstr>
      <vt:lpstr>Developer Tools 1/5</vt:lpstr>
      <vt:lpstr>Developer Tools 2/5</vt:lpstr>
      <vt:lpstr>Developer Tools  3/5</vt:lpstr>
      <vt:lpstr>Developer Tools 4/5</vt:lpstr>
      <vt:lpstr>Developer Tools 5/5</vt:lpstr>
      <vt:lpstr>End User Computing</vt:lpstr>
      <vt:lpstr>End User Computing 1/1</vt:lpstr>
      <vt:lpstr>Front-End Web  &amp; Mobile</vt:lpstr>
      <vt:lpstr>Front-End Web &amp; Mobile  1/1</vt:lpstr>
      <vt:lpstr>Games</vt:lpstr>
      <vt:lpstr>Games 1/1</vt:lpstr>
      <vt:lpstr>Internet of Things</vt:lpstr>
      <vt:lpstr>Internet of Things  1/6</vt:lpstr>
      <vt:lpstr>Internet of Things  2/6</vt:lpstr>
      <vt:lpstr>Internet of Things  3/6</vt:lpstr>
      <vt:lpstr>Internet of Things  4/6</vt:lpstr>
      <vt:lpstr>Internet of Things  5/6</vt:lpstr>
      <vt:lpstr>Internet of Things  6/6</vt:lpstr>
      <vt:lpstr>Management &amp; Governance</vt:lpstr>
      <vt:lpstr>Management &amp; Governance 1/9</vt:lpstr>
      <vt:lpstr>Management &amp; Governance  2/9</vt:lpstr>
      <vt:lpstr>Management &amp; Governance 3/9</vt:lpstr>
      <vt:lpstr>Management &amp; Governance 4/9</vt:lpstr>
      <vt:lpstr>Management &amp; Governance 5/9</vt:lpstr>
      <vt:lpstr>Management &amp; Governance 6/9</vt:lpstr>
      <vt:lpstr>Management &amp; Governance 7/9</vt:lpstr>
      <vt:lpstr>Management &amp; Governance 8/9</vt:lpstr>
      <vt:lpstr>Management &amp; Governance 9/9</vt:lpstr>
      <vt:lpstr>Media Services</vt:lpstr>
      <vt:lpstr>Media Services 1/6</vt:lpstr>
      <vt:lpstr>Media Services 2/6</vt:lpstr>
      <vt:lpstr>Media Services  3/6</vt:lpstr>
      <vt:lpstr>Media Services 4/6</vt:lpstr>
      <vt:lpstr>Media Services 5/6</vt:lpstr>
      <vt:lpstr>Media Services 6/6</vt:lpstr>
      <vt:lpstr>Migration &amp; Modernization</vt:lpstr>
      <vt:lpstr>Migration &amp; Modernization 1/2</vt:lpstr>
      <vt:lpstr>Migration &amp; Modernization  2/2</vt:lpstr>
      <vt:lpstr>Networking &amp; Content Delivery</vt:lpstr>
      <vt:lpstr>Networking &amp; Content Delivery 1/6</vt:lpstr>
      <vt:lpstr>Networking &amp; Content Delivery  2/6</vt:lpstr>
      <vt:lpstr>Networking &amp; Content Delivery  3/6</vt:lpstr>
      <vt:lpstr>Networking &amp; Content Delivery 4/6</vt:lpstr>
      <vt:lpstr>Networking &amp; Content Delivery 5/6</vt:lpstr>
      <vt:lpstr>Networking &amp; Content Delivery 6/6</vt:lpstr>
      <vt:lpstr>Quantum  Technologies</vt:lpstr>
      <vt:lpstr>Quantum Technologies 1/1</vt:lpstr>
      <vt:lpstr>Robotics</vt:lpstr>
      <vt:lpstr>Robotics 1/1</vt:lpstr>
      <vt:lpstr>Satellite</vt:lpstr>
      <vt:lpstr>Satellite 1/1</vt:lpstr>
      <vt:lpstr>Security, Identity, &amp; Compliance</vt:lpstr>
      <vt:lpstr>Security, Identity, &amp; Compliance 1/7</vt:lpstr>
      <vt:lpstr>Security, Identity, &amp; Compliance 2/7</vt:lpstr>
      <vt:lpstr>Security, Identity, &amp; Compliance 3/7</vt:lpstr>
      <vt:lpstr>Security, Identity, &amp; Compliance 4/7</vt:lpstr>
      <vt:lpstr>Security, Identity, &amp; Compliance 5/7</vt:lpstr>
      <vt:lpstr>Security, Identity, &amp; Compliance 6/7</vt:lpstr>
      <vt:lpstr>Security, Identity, &amp; Compliance 7/7</vt:lpstr>
      <vt:lpstr>Serverless</vt:lpstr>
      <vt:lpstr>Serverless 1/1</vt:lpstr>
      <vt:lpstr>Storage</vt:lpstr>
      <vt:lpstr>Storage 1/7</vt:lpstr>
      <vt:lpstr>Storage  2/7</vt:lpstr>
      <vt:lpstr>Storage  3/7</vt:lpstr>
      <vt:lpstr>Storage 4/7</vt:lpstr>
      <vt:lpstr>Storage 5/7</vt:lpstr>
      <vt:lpstr>Storage 6/7</vt:lpstr>
      <vt:lpstr>Storage 7/7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김설빈</cp:lastModifiedBy>
  <cp:revision>3633</cp:revision>
  <dcterms:created xsi:type="dcterms:W3CDTF">2020-03-23T21:46:17Z</dcterms:created>
  <dcterms:modified xsi:type="dcterms:W3CDTF">2026-01-05T06:18:20Z</dcterms:modified>
</cp:coreProperties>
</file>